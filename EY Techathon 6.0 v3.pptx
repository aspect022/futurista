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nva Sans Bold" panose="020B0604020202020204" charset="0"/>
      <p:regular r:id="rId8"/>
    </p:embeddedFont>
    <p:embeddedFont>
      <p:font typeface="Canva Sans" panose="020B0604020202020204" charset="0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Playfair Display Bold" panose="020B0604020202020204" charset="0"/>
      <p:regular r:id="rId14"/>
    </p:embeddedFont>
    <p:embeddedFont>
      <p:font typeface="Canva Sans Bold Italics" panose="020B0604020202020204" charset="0"/>
      <p:regular r:id="rId15"/>
    </p:embeddedFont>
    <p:embeddedFont>
      <p:font typeface="Canva Sans Italics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548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0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7.png"/><Relationship Id="rId12" Type="http://schemas.openxmlformats.org/officeDocument/2006/relationships/image" Target="../media/image14.sv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sv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image" Target="../media/image12.svg"/><Relationship Id="rId4" Type="http://schemas.openxmlformats.org/officeDocument/2006/relationships/image" Target="../media/image5.png"/><Relationship Id="rId9" Type="http://schemas.openxmlformats.org/officeDocument/2006/relationships/image" Target="../media/image8.png"/><Relationship Id="rId1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79245" y="1989647"/>
            <a:ext cx="4318090" cy="3267837"/>
            <a:chOff x="0" y="0"/>
            <a:chExt cx="1137275" cy="8606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37275" cy="860665"/>
            </a:xfrm>
            <a:custGeom>
              <a:avLst/>
              <a:gdLst/>
              <a:ahLst/>
              <a:cxnLst/>
              <a:rect l="l" t="t" r="r" b="b"/>
              <a:pathLst>
                <a:path w="1137275" h="860665">
                  <a:moveTo>
                    <a:pt x="91438" y="0"/>
                  </a:moveTo>
                  <a:lnTo>
                    <a:pt x="1045837" y="0"/>
                  </a:lnTo>
                  <a:cubicBezTo>
                    <a:pt x="1070088" y="0"/>
                    <a:pt x="1093345" y="9634"/>
                    <a:pt x="1110493" y="26782"/>
                  </a:cubicBezTo>
                  <a:cubicBezTo>
                    <a:pt x="1127641" y="43930"/>
                    <a:pt x="1137275" y="67187"/>
                    <a:pt x="1137275" y="91438"/>
                  </a:cubicBezTo>
                  <a:lnTo>
                    <a:pt x="1137275" y="769227"/>
                  </a:lnTo>
                  <a:cubicBezTo>
                    <a:pt x="1137275" y="793478"/>
                    <a:pt x="1127641" y="816735"/>
                    <a:pt x="1110493" y="833883"/>
                  </a:cubicBezTo>
                  <a:cubicBezTo>
                    <a:pt x="1093345" y="851031"/>
                    <a:pt x="1070088" y="860665"/>
                    <a:pt x="1045837" y="860665"/>
                  </a:cubicBezTo>
                  <a:lnTo>
                    <a:pt x="91438" y="860665"/>
                  </a:lnTo>
                  <a:cubicBezTo>
                    <a:pt x="67187" y="860665"/>
                    <a:pt x="43930" y="851031"/>
                    <a:pt x="26782" y="833883"/>
                  </a:cubicBezTo>
                  <a:cubicBezTo>
                    <a:pt x="9634" y="816735"/>
                    <a:pt x="0" y="793478"/>
                    <a:pt x="0" y="769227"/>
                  </a:cubicBezTo>
                  <a:lnTo>
                    <a:pt x="0" y="91438"/>
                  </a:lnTo>
                  <a:cubicBezTo>
                    <a:pt x="0" y="67187"/>
                    <a:pt x="9634" y="43930"/>
                    <a:pt x="26782" y="26782"/>
                  </a:cubicBezTo>
                  <a:cubicBezTo>
                    <a:pt x="43930" y="9634"/>
                    <a:pt x="67187" y="0"/>
                    <a:pt x="91438" y="0"/>
                  </a:cubicBezTo>
                  <a:close/>
                </a:path>
              </a:pathLst>
            </a:custGeom>
            <a:solidFill>
              <a:srgbClr val="6CE5E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37275" cy="898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00125" y="500108"/>
            <a:ext cx="3959919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59"/>
              </a:lnSpc>
              <a:spcBef>
                <a:spcPct val="0"/>
              </a:spcBef>
            </a:pPr>
            <a:r>
              <a:rPr lang="en-US" sz="4899" b="1" dirty="0">
                <a:solidFill>
                  <a:srgbClr val="BDE1E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Team Info</a:t>
            </a:r>
          </a:p>
        </p:txBody>
      </p:sp>
      <p:sp>
        <p:nvSpPr>
          <p:cNvPr id="6" name="TextBox 6"/>
          <p:cNvSpPr txBox="1"/>
          <p:nvPr/>
        </p:nvSpPr>
        <p:spPr>
          <a:xfrm rot="-5400000">
            <a:off x="703996" y="2209576"/>
            <a:ext cx="1343467" cy="90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>
                <a:solidFill>
                  <a:srgbClr val="BDE1EE"/>
                </a:solidFill>
                <a:latin typeface="Canva Sans"/>
                <a:ea typeface="Canva Sans"/>
                <a:cs typeface="Canva Sans"/>
                <a:sym typeface="Canva Sans"/>
              </a:rPr>
              <a:t>1#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79807" y="6219508"/>
            <a:ext cx="4318090" cy="3267837"/>
            <a:chOff x="0" y="0"/>
            <a:chExt cx="1137275" cy="8606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37275" cy="860665"/>
            </a:xfrm>
            <a:custGeom>
              <a:avLst/>
              <a:gdLst/>
              <a:ahLst/>
              <a:cxnLst/>
              <a:rect l="l" t="t" r="r" b="b"/>
              <a:pathLst>
                <a:path w="1137275" h="860665">
                  <a:moveTo>
                    <a:pt x="91438" y="0"/>
                  </a:moveTo>
                  <a:lnTo>
                    <a:pt x="1045837" y="0"/>
                  </a:lnTo>
                  <a:cubicBezTo>
                    <a:pt x="1070088" y="0"/>
                    <a:pt x="1093345" y="9634"/>
                    <a:pt x="1110493" y="26782"/>
                  </a:cubicBezTo>
                  <a:cubicBezTo>
                    <a:pt x="1127641" y="43930"/>
                    <a:pt x="1137275" y="67187"/>
                    <a:pt x="1137275" y="91438"/>
                  </a:cubicBezTo>
                  <a:lnTo>
                    <a:pt x="1137275" y="769227"/>
                  </a:lnTo>
                  <a:cubicBezTo>
                    <a:pt x="1137275" y="793478"/>
                    <a:pt x="1127641" y="816735"/>
                    <a:pt x="1110493" y="833883"/>
                  </a:cubicBezTo>
                  <a:cubicBezTo>
                    <a:pt x="1093345" y="851031"/>
                    <a:pt x="1070088" y="860665"/>
                    <a:pt x="1045837" y="860665"/>
                  </a:cubicBezTo>
                  <a:lnTo>
                    <a:pt x="91438" y="860665"/>
                  </a:lnTo>
                  <a:cubicBezTo>
                    <a:pt x="67187" y="860665"/>
                    <a:pt x="43930" y="851031"/>
                    <a:pt x="26782" y="833883"/>
                  </a:cubicBezTo>
                  <a:cubicBezTo>
                    <a:pt x="9634" y="816735"/>
                    <a:pt x="0" y="793478"/>
                    <a:pt x="0" y="769227"/>
                  </a:cubicBezTo>
                  <a:lnTo>
                    <a:pt x="0" y="91438"/>
                  </a:lnTo>
                  <a:cubicBezTo>
                    <a:pt x="0" y="67187"/>
                    <a:pt x="9634" y="43930"/>
                    <a:pt x="26782" y="26782"/>
                  </a:cubicBezTo>
                  <a:cubicBezTo>
                    <a:pt x="43930" y="9634"/>
                    <a:pt x="67187" y="0"/>
                    <a:pt x="91438" y="0"/>
                  </a:cubicBezTo>
                  <a:close/>
                </a:path>
              </a:pathLst>
            </a:custGeom>
            <a:solidFill>
              <a:srgbClr val="6CE5E8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137275" cy="898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 rot="-5400000">
            <a:off x="9204556" y="6439438"/>
            <a:ext cx="1343467" cy="90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>
                <a:solidFill>
                  <a:srgbClr val="BDE1EE"/>
                </a:solidFill>
                <a:latin typeface="Canva Sans"/>
                <a:ea typeface="Canva Sans"/>
                <a:cs typeface="Canva Sans"/>
                <a:sym typeface="Canva Sans"/>
              </a:rPr>
              <a:t>5#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360227" y="1989647"/>
            <a:ext cx="4318090" cy="3267837"/>
            <a:chOff x="0" y="0"/>
            <a:chExt cx="1137275" cy="8606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37275" cy="860665"/>
            </a:xfrm>
            <a:custGeom>
              <a:avLst/>
              <a:gdLst/>
              <a:ahLst/>
              <a:cxnLst/>
              <a:rect l="l" t="t" r="r" b="b"/>
              <a:pathLst>
                <a:path w="1137275" h="860665">
                  <a:moveTo>
                    <a:pt x="91438" y="0"/>
                  </a:moveTo>
                  <a:lnTo>
                    <a:pt x="1045837" y="0"/>
                  </a:lnTo>
                  <a:cubicBezTo>
                    <a:pt x="1070088" y="0"/>
                    <a:pt x="1093345" y="9634"/>
                    <a:pt x="1110493" y="26782"/>
                  </a:cubicBezTo>
                  <a:cubicBezTo>
                    <a:pt x="1127641" y="43930"/>
                    <a:pt x="1137275" y="67187"/>
                    <a:pt x="1137275" y="91438"/>
                  </a:cubicBezTo>
                  <a:lnTo>
                    <a:pt x="1137275" y="769227"/>
                  </a:lnTo>
                  <a:cubicBezTo>
                    <a:pt x="1137275" y="793478"/>
                    <a:pt x="1127641" y="816735"/>
                    <a:pt x="1110493" y="833883"/>
                  </a:cubicBezTo>
                  <a:cubicBezTo>
                    <a:pt x="1093345" y="851031"/>
                    <a:pt x="1070088" y="860665"/>
                    <a:pt x="1045837" y="860665"/>
                  </a:cubicBezTo>
                  <a:lnTo>
                    <a:pt x="91438" y="860665"/>
                  </a:lnTo>
                  <a:cubicBezTo>
                    <a:pt x="67187" y="860665"/>
                    <a:pt x="43930" y="851031"/>
                    <a:pt x="26782" y="833883"/>
                  </a:cubicBezTo>
                  <a:cubicBezTo>
                    <a:pt x="9634" y="816735"/>
                    <a:pt x="0" y="793478"/>
                    <a:pt x="0" y="769227"/>
                  </a:cubicBezTo>
                  <a:lnTo>
                    <a:pt x="0" y="91438"/>
                  </a:lnTo>
                  <a:cubicBezTo>
                    <a:pt x="0" y="67187"/>
                    <a:pt x="9634" y="43930"/>
                    <a:pt x="26782" y="26782"/>
                  </a:cubicBezTo>
                  <a:cubicBezTo>
                    <a:pt x="43930" y="9634"/>
                    <a:pt x="67187" y="0"/>
                    <a:pt x="91438" y="0"/>
                  </a:cubicBezTo>
                  <a:close/>
                </a:path>
              </a:pathLst>
            </a:custGeom>
            <a:solidFill>
              <a:srgbClr val="6CE5E8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137275" cy="898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 rot="-5400000">
            <a:off x="6284978" y="2209576"/>
            <a:ext cx="1343467" cy="90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>
                <a:solidFill>
                  <a:srgbClr val="BDE1EE"/>
                </a:solidFill>
                <a:latin typeface="Canva Sans"/>
                <a:ea typeface="Canva Sans"/>
                <a:cs typeface="Canva Sans"/>
                <a:sym typeface="Canva Sans"/>
              </a:rPr>
              <a:t>2#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4440648" y="6219508"/>
            <a:ext cx="4318090" cy="3267837"/>
            <a:chOff x="0" y="0"/>
            <a:chExt cx="1137275" cy="86066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37275" cy="860665"/>
            </a:xfrm>
            <a:custGeom>
              <a:avLst/>
              <a:gdLst/>
              <a:ahLst/>
              <a:cxnLst/>
              <a:rect l="l" t="t" r="r" b="b"/>
              <a:pathLst>
                <a:path w="1137275" h="860665">
                  <a:moveTo>
                    <a:pt x="91438" y="0"/>
                  </a:moveTo>
                  <a:lnTo>
                    <a:pt x="1045837" y="0"/>
                  </a:lnTo>
                  <a:cubicBezTo>
                    <a:pt x="1070088" y="0"/>
                    <a:pt x="1093345" y="9634"/>
                    <a:pt x="1110493" y="26782"/>
                  </a:cubicBezTo>
                  <a:cubicBezTo>
                    <a:pt x="1127641" y="43930"/>
                    <a:pt x="1137275" y="67187"/>
                    <a:pt x="1137275" y="91438"/>
                  </a:cubicBezTo>
                  <a:lnTo>
                    <a:pt x="1137275" y="769227"/>
                  </a:lnTo>
                  <a:cubicBezTo>
                    <a:pt x="1137275" y="793478"/>
                    <a:pt x="1127641" y="816735"/>
                    <a:pt x="1110493" y="833883"/>
                  </a:cubicBezTo>
                  <a:cubicBezTo>
                    <a:pt x="1093345" y="851031"/>
                    <a:pt x="1070088" y="860665"/>
                    <a:pt x="1045837" y="860665"/>
                  </a:cubicBezTo>
                  <a:lnTo>
                    <a:pt x="91438" y="860665"/>
                  </a:lnTo>
                  <a:cubicBezTo>
                    <a:pt x="67187" y="860665"/>
                    <a:pt x="43930" y="851031"/>
                    <a:pt x="26782" y="833883"/>
                  </a:cubicBezTo>
                  <a:cubicBezTo>
                    <a:pt x="9634" y="816735"/>
                    <a:pt x="0" y="793478"/>
                    <a:pt x="0" y="769227"/>
                  </a:cubicBezTo>
                  <a:lnTo>
                    <a:pt x="0" y="91438"/>
                  </a:lnTo>
                  <a:cubicBezTo>
                    <a:pt x="0" y="67187"/>
                    <a:pt x="9634" y="43930"/>
                    <a:pt x="26782" y="26782"/>
                  </a:cubicBezTo>
                  <a:cubicBezTo>
                    <a:pt x="43930" y="9634"/>
                    <a:pt x="67187" y="0"/>
                    <a:pt x="91438" y="0"/>
                  </a:cubicBezTo>
                  <a:close/>
                </a:path>
              </a:pathLst>
            </a:custGeom>
            <a:solidFill>
              <a:srgbClr val="6CE5E8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37275" cy="898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 rot="-5400000">
            <a:off x="3365399" y="6439438"/>
            <a:ext cx="1343467" cy="90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>
                <a:solidFill>
                  <a:srgbClr val="BDE1EE"/>
                </a:solidFill>
                <a:latin typeface="Canva Sans"/>
                <a:ea typeface="Canva Sans"/>
                <a:cs typeface="Canva Sans"/>
                <a:sym typeface="Canva Sans"/>
              </a:rPr>
              <a:t>4#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943212" y="1875663"/>
            <a:ext cx="4318090" cy="3267837"/>
            <a:chOff x="0" y="0"/>
            <a:chExt cx="1137275" cy="86066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37275" cy="860665"/>
            </a:xfrm>
            <a:custGeom>
              <a:avLst/>
              <a:gdLst/>
              <a:ahLst/>
              <a:cxnLst/>
              <a:rect l="l" t="t" r="r" b="b"/>
              <a:pathLst>
                <a:path w="1137275" h="860665">
                  <a:moveTo>
                    <a:pt x="91438" y="0"/>
                  </a:moveTo>
                  <a:lnTo>
                    <a:pt x="1045837" y="0"/>
                  </a:lnTo>
                  <a:cubicBezTo>
                    <a:pt x="1070088" y="0"/>
                    <a:pt x="1093345" y="9634"/>
                    <a:pt x="1110493" y="26782"/>
                  </a:cubicBezTo>
                  <a:cubicBezTo>
                    <a:pt x="1127641" y="43930"/>
                    <a:pt x="1137275" y="67187"/>
                    <a:pt x="1137275" y="91438"/>
                  </a:cubicBezTo>
                  <a:lnTo>
                    <a:pt x="1137275" y="769227"/>
                  </a:lnTo>
                  <a:cubicBezTo>
                    <a:pt x="1137275" y="793478"/>
                    <a:pt x="1127641" y="816735"/>
                    <a:pt x="1110493" y="833883"/>
                  </a:cubicBezTo>
                  <a:cubicBezTo>
                    <a:pt x="1093345" y="851031"/>
                    <a:pt x="1070088" y="860665"/>
                    <a:pt x="1045837" y="860665"/>
                  </a:cubicBezTo>
                  <a:lnTo>
                    <a:pt x="91438" y="860665"/>
                  </a:lnTo>
                  <a:cubicBezTo>
                    <a:pt x="67187" y="860665"/>
                    <a:pt x="43930" y="851031"/>
                    <a:pt x="26782" y="833883"/>
                  </a:cubicBezTo>
                  <a:cubicBezTo>
                    <a:pt x="9634" y="816735"/>
                    <a:pt x="0" y="793478"/>
                    <a:pt x="0" y="769227"/>
                  </a:cubicBezTo>
                  <a:lnTo>
                    <a:pt x="0" y="91438"/>
                  </a:lnTo>
                  <a:cubicBezTo>
                    <a:pt x="0" y="67187"/>
                    <a:pt x="9634" y="43930"/>
                    <a:pt x="26782" y="26782"/>
                  </a:cubicBezTo>
                  <a:cubicBezTo>
                    <a:pt x="43930" y="9634"/>
                    <a:pt x="67187" y="0"/>
                    <a:pt x="91438" y="0"/>
                  </a:cubicBezTo>
                  <a:close/>
                </a:path>
              </a:pathLst>
            </a:custGeom>
            <a:solidFill>
              <a:srgbClr val="6CE5E8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137275" cy="898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 rot="-5400000">
            <a:off x="11867962" y="2095594"/>
            <a:ext cx="1343467" cy="90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>
                <a:solidFill>
                  <a:srgbClr val="BDE1EE"/>
                </a:solidFill>
                <a:latin typeface="Canva Sans"/>
                <a:ea typeface="Canva Sans"/>
                <a:cs typeface="Canva Sans"/>
                <a:sym typeface="Canva Sans"/>
              </a:rPr>
              <a:t>3#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79246" y="2275299"/>
            <a:ext cx="4316086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 b="1" dirty="0">
                <a:solidFill>
                  <a:srgbClr val="0C4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Aditya 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79807" y="6505161"/>
            <a:ext cx="431809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 b="1" dirty="0" err="1">
                <a:solidFill>
                  <a:srgbClr val="0C4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Yashaswini</a:t>
            </a:r>
            <a:r>
              <a:rPr lang="en-US" sz="4099" b="1" dirty="0">
                <a:solidFill>
                  <a:srgbClr val="0C4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358223" y="2275299"/>
            <a:ext cx="4320093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 b="1" dirty="0" err="1">
                <a:solidFill>
                  <a:srgbClr val="0C4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Jayesh</a:t>
            </a:r>
            <a:r>
              <a:rPr lang="en-US" sz="4099" b="1" dirty="0">
                <a:solidFill>
                  <a:srgbClr val="0C4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440648" y="6505161"/>
            <a:ext cx="431809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 b="1" dirty="0" err="1">
                <a:solidFill>
                  <a:srgbClr val="0C4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Rajath</a:t>
            </a:r>
            <a:r>
              <a:rPr lang="en-US" sz="4099" b="1" dirty="0">
                <a:solidFill>
                  <a:srgbClr val="0C4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U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099510" y="2292802"/>
            <a:ext cx="4053780" cy="69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 b="1" dirty="0">
                <a:solidFill>
                  <a:srgbClr val="0C4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 Harshith Raju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79244" y="3575940"/>
            <a:ext cx="4316088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 ML Architect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79807" y="7805801"/>
            <a:ext cx="4318090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Business Strategist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358223" y="3575940"/>
            <a:ext cx="4320093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Backend Engineer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939204" y="3575941"/>
            <a:ext cx="4322098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 ML Architect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440648" y="7581964"/>
            <a:ext cx="4318090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UX designer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0" y="8875395"/>
            <a:ext cx="3243461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Date Of Submission: 15/10/2025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64317" y="2311760"/>
            <a:ext cx="5436754" cy="4268117"/>
            <a:chOff x="0" y="0"/>
            <a:chExt cx="1431902" cy="11241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1902" cy="1124113"/>
            </a:xfrm>
            <a:custGeom>
              <a:avLst/>
              <a:gdLst/>
              <a:ahLst/>
              <a:cxnLst/>
              <a:rect l="l" t="t" r="r" b="b"/>
              <a:pathLst>
                <a:path w="1431902" h="1124113">
                  <a:moveTo>
                    <a:pt x="72624" y="0"/>
                  </a:moveTo>
                  <a:lnTo>
                    <a:pt x="1359279" y="0"/>
                  </a:lnTo>
                  <a:cubicBezTo>
                    <a:pt x="1378540" y="0"/>
                    <a:pt x="1397012" y="7651"/>
                    <a:pt x="1410631" y="21271"/>
                  </a:cubicBezTo>
                  <a:cubicBezTo>
                    <a:pt x="1424251" y="34891"/>
                    <a:pt x="1431902" y="53363"/>
                    <a:pt x="1431902" y="72624"/>
                  </a:cubicBezTo>
                  <a:lnTo>
                    <a:pt x="1431902" y="1051489"/>
                  </a:lnTo>
                  <a:cubicBezTo>
                    <a:pt x="1431902" y="1070750"/>
                    <a:pt x="1424251" y="1089223"/>
                    <a:pt x="1410631" y="1102842"/>
                  </a:cubicBezTo>
                  <a:cubicBezTo>
                    <a:pt x="1397012" y="1116462"/>
                    <a:pt x="1378540" y="1124113"/>
                    <a:pt x="1359279" y="1124113"/>
                  </a:cubicBezTo>
                  <a:lnTo>
                    <a:pt x="72624" y="1124113"/>
                  </a:lnTo>
                  <a:cubicBezTo>
                    <a:pt x="53363" y="1124113"/>
                    <a:pt x="34891" y="1116462"/>
                    <a:pt x="21271" y="1102842"/>
                  </a:cubicBezTo>
                  <a:cubicBezTo>
                    <a:pt x="7651" y="1089223"/>
                    <a:pt x="0" y="1070750"/>
                    <a:pt x="0" y="1051489"/>
                  </a:cubicBezTo>
                  <a:lnTo>
                    <a:pt x="0" y="72624"/>
                  </a:lnTo>
                  <a:cubicBezTo>
                    <a:pt x="0" y="53363"/>
                    <a:pt x="7651" y="34891"/>
                    <a:pt x="21271" y="21271"/>
                  </a:cubicBezTo>
                  <a:cubicBezTo>
                    <a:pt x="34891" y="7651"/>
                    <a:pt x="53363" y="0"/>
                    <a:pt x="72624" y="0"/>
                  </a:cubicBezTo>
                  <a:close/>
                </a:path>
              </a:pathLst>
            </a:custGeom>
            <a:solidFill>
              <a:srgbClr val="BDE1E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31902" cy="1162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89952" y="2311760"/>
            <a:ext cx="4569466" cy="4347509"/>
            <a:chOff x="0" y="0"/>
            <a:chExt cx="1203481" cy="11450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03481" cy="1145023"/>
            </a:xfrm>
            <a:custGeom>
              <a:avLst/>
              <a:gdLst/>
              <a:ahLst/>
              <a:cxnLst/>
              <a:rect l="l" t="t" r="r" b="b"/>
              <a:pathLst>
                <a:path w="1203481" h="1145023">
                  <a:moveTo>
                    <a:pt x="86408" y="0"/>
                  </a:moveTo>
                  <a:lnTo>
                    <a:pt x="1117073" y="0"/>
                  </a:lnTo>
                  <a:cubicBezTo>
                    <a:pt x="1139990" y="0"/>
                    <a:pt x="1161968" y="9104"/>
                    <a:pt x="1178172" y="25308"/>
                  </a:cubicBezTo>
                  <a:cubicBezTo>
                    <a:pt x="1194377" y="41513"/>
                    <a:pt x="1203481" y="63491"/>
                    <a:pt x="1203481" y="86408"/>
                  </a:cubicBezTo>
                  <a:lnTo>
                    <a:pt x="1203481" y="1058615"/>
                  </a:lnTo>
                  <a:cubicBezTo>
                    <a:pt x="1203481" y="1106337"/>
                    <a:pt x="1164795" y="1145023"/>
                    <a:pt x="1117073" y="1145023"/>
                  </a:cubicBezTo>
                  <a:lnTo>
                    <a:pt x="86408" y="1145023"/>
                  </a:lnTo>
                  <a:cubicBezTo>
                    <a:pt x="38686" y="1145023"/>
                    <a:pt x="0" y="1106337"/>
                    <a:pt x="0" y="1058615"/>
                  </a:cubicBezTo>
                  <a:lnTo>
                    <a:pt x="0" y="86408"/>
                  </a:lnTo>
                  <a:cubicBezTo>
                    <a:pt x="0" y="38686"/>
                    <a:pt x="38686" y="0"/>
                    <a:pt x="86408" y="0"/>
                  </a:cubicBezTo>
                  <a:close/>
                </a:path>
              </a:pathLst>
            </a:custGeom>
            <a:solidFill>
              <a:srgbClr val="BDE1E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03481" cy="11831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05972" y="2311760"/>
            <a:ext cx="4569466" cy="4347509"/>
            <a:chOff x="0" y="0"/>
            <a:chExt cx="1203481" cy="11450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03481" cy="1145023"/>
            </a:xfrm>
            <a:custGeom>
              <a:avLst/>
              <a:gdLst/>
              <a:ahLst/>
              <a:cxnLst/>
              <a:rect l="l" t="t" r="r" b="b"/>
              <a:pathLst>
                <a:path w="1203481" h="1145023">
                  <a:moveTo>
                    <a:pt x="86408" y="0"/>
                  </a:moveTo>
                  <a:lnTo>
                    <a:pt x="1117073" y="0"/>
                  </a:lnTo>
                  <a:cubicBezTo>
                    <a:pt x="1139990" y="0"/>
                    <a:pt x="1161968" y="9104"/>
                    <a:pt x="1178172" y="25308"/>
                  </a:cubicBezTo>
                  <a:cubicBezTo>
                    <a:pt x="1194377" y="41513"/>
                    <a:pt x="1203481" y="63491"/>
                    <a:pt x="1203481" y="86408"/>
                  </a:cubicBezTo>
                  <a:lnTo>
                    <a:pt x="1203481" y="1058615"/>
                  </a:lnTo>
                  <a:cubicBezTo>
                    <a:pt x="1203481" y="1106337"/>
                    <a:pt x="1164795" y="1145023"/>
                    <a:pt x="1117073" y="1145023"/>
                  </a:cubicBezTo>
                  <a:lnTo>
                    <a:pt x="86408" y="1145023"/>
                  </a:lnTo>
                  <a:cubicBezTo>
                    <a:pt x="38686" y="1145023"/>
                    <a:pt x="0" y="1106337"/>
                    <a:pt x="0" y="1058615"/>
                  </a:cubicBezTo>
                  <a:lnTo>
                    <a:pt x="0" y="86408"/>
                  </a:lnTo>
                  <a:cubicBezTo>
                    <a:pt x="0" y="38686"/>
                    <a:pt x="38686" y="0"/>
                    <a:pt x="86408" y="0"/>
                  </a:cubicBezTo>
                  <a:close/>
                </a:path>
              </a:pathLst>
            </a:custGeom>
            <a:solidFill>
              <a:srgbClr val="BDE1E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03481" cy="11831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4316635" y="2617765"/>
            <a:ext cx="1558324" cy="1558324"/>
          </a:xfrm>
          <a:custGeom>
            <a:avLst/>
            <a:gdLst/>
            <a:ahLst/>
            <a:cxnLst/>
            <a:rect l="l" t="t" r="r" b="b"/>
            <a:pathLst>
              <a:path w="1558324" h="1558324">
                <a:moveTo>
                  <a:pt x="0" y="0"/>
                </a:moveTo>
                <a:lnTo>
                  <a:pt x="1558324" y="0"/>
                </a:lnTo>
                <a:lnTo>
                  <a:pt x="1558324" y="1558324"/>
                </a:lnTo>
                <a:lnTo>
                  <a:pt x="0" y="15583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200659"/>
            <a:ext cx="11677272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859"/>
              </a:lnSpc>
              <a:spcBef>
                <a:spcPct val="0"/>
              </a:spcBef>
            </a:pPr>
            <a:r>
              <a:rPr lang="en-US" sz="4899" b="1" dirty="0">
                <a:solidFill>
                  <a:srgbClr val="BDE1E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From Breakdown to Breakthrough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5469" y="5429496"/>
            <a:ext cx="2863901" cy="1551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9"/>
              </a:lnSpc>
              <a:spcBef>
                <a:spcPct val="0"/>
              </a:spcBef>
            </a:pPr>
            <a:r>
              <a:rPr lang="en-US" sz="2257">
                <a:solidFill>
                  <a:srgbClr val="092851"/>
                </a:solidFill>
                <a:latin typeface="Canva Sans"/>
                <a:ea typeface="Canva Sans"/>
                <a:cs typeface="Canva Sans"/>
                <a:sym typeface="Canva Sans"/>
              </a:rPr>
              <a:t>₹300 Cr Annual Loss (Escalating) 15M Hero vehicles affected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92094" y="2827204"/>
            <a:ext cx="4981201" cy="318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92851"/>
                </a:solidFill>
                <a:latin typeface="Canva Sans"/>
                <a:ea typeface="Canva Sans"/>
                <a:cs typeface="Canva Sans"/>
                <a:sym typeface="Canva Sans"/>
              </a:rPr>
              <a:t>68 % visits happen due to breakdowns (32% planned maintenance)</a:t>
            </a:r>
          </a:p>
          <a:p>
            <a:pPr marL="496571" lvl="1" indent="-248285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92851"/>
                </a:solidFill>
                <a:latin typeface="Canva Sans"/>
                <a:ea typeface="Canva Sans"/>
                <a:cs typeface="Canva Sans"/>
                <a:sym typeface="Canva Sans"/>
              </a:rPr>
              <a:t>45 % service capacity idle due to peak hours overbooking </a:t>
            </a:r>
          </a:p>
          <a:p>
            <a:pPr marL="496571" lvl="1" indent="-248285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92851"/>
                </a:solidFill>
                <a:latin typeface="Canva Sans"/>
                <a:ea typeface="Canva Sans"/>
                <a:cs typeface="Canva Sans"/>
                <a:sym typeface="Canva Sans"/>
              </a:rPr>
              <a:t>6 month delay in defect detection as customers ignore early warnings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05972" y="4449056"/>
            <a:ext cx="4569466" cy="1989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92851"/>
                </a:solidFill>
                <a:latin typeface="Canva Sans"/>
                <a:ea typeface="Canva Sans"/>
                <a:cs typeface="Canva Sans"/>
                <a:sym typeface="Canva Sans"/>
              </a:rPr>
              <a:t>Near-Zero Unplanned Downtime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92851"/>
                </a:solidFill>
                <a:latin typeface="Canva Sans"/>
                <a:ea typeface="Canva Sans"/>
                <a:cs typeface="Canva Sans"/>
                <a:sym typeface="Canva Sans"/>
              </a:rPr>
              <a:t>Target: 93% breakdown prevention 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92851"/>
                </a:solidFill>
                <a:latin typeface="Canva Sans"/>
                <a:ea typeface="Canva Sans"/>
                <a:cs typeface="Canva Sans"/>
                <a:sym typeface="Canva Sans"/>
              </a:rPr>
              <a:t>7% residual for catastrophic failures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243116" y="7094455"/>
            <a:ext cx="6358350" cy="2659258"/>
            <a:chOff x="0" y="0"/>
            <a:chExt cx="1674627" cy="70038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74627" cy="700381"/>
            </a:xfrm>
            <a:custGeom>
              <a:avLst/>
              <a:gdLst/>
              <a:ahLst/>
              <a:cxnLst/>
              <a:rect l="l" t="t" r="r" b="b"/>
              <a:pathLst>
                <a:path w="1674627" h="700381">
                  <a:moveTo>
                    <a:pt x="62098" y="0"/>
                  </a:moveTo>
                  <a:lnTo>
                    <a:pt x="1612529" y="0"/>
                  </a:lnTo>
                  <a:cubicBezTo>
                    <a:pt x="1628999" y="0"/>
                    <a:pt x="1644794" y="6542"/>
                    <a:pt x="1656439" y="18188"/>
                  </a:cubicBezTo>
                  <a:cubicBezTo>
                    <a:pt x="1668085" y="29833"/>
                    <a:pt x="1674627" y="45628"/>
                    <a:pt x="1674627" y="62098"/>
                  </a:cubicBezTo>
                  <a:lnTo>
                    <a:pt x="1674627" y="638283"/>
                  </a:lnTo>
                  <a:cubicBezTo>
                    <a:pt x="1674627" y="654752"/>
                    <a:pt x="1668085" y="670547"/>
                    <a:pt x="1656439" y="682193"/>
                  </a:cubicBezTo>
                  <a:cubicBezTo>
                    <a:pt x="1644794" y="693838"/>
                    <a:pt x="1628999" y="700381"/>
                    <a:pt x="1612529" y="700381"/>
                  </a:cubicBezTo>
                  <a:lnTo>
                    <a:pt x="62098" y="700381"/>
                  </a:lnTo>
                  <a:cubicBezTo>
                    <a:pt x="45628" y="700381"/>
                    <a:pt x="29833" y="693838"/>
                    <a:pt x="18188" y="682193"/>
                  </a:cubicBezTo>
                  <a:cubicBezTo>
                    <a:pt x="6542" y="670547"/>
                    <a:pt x="0" y="654752"/>
                    <a:pt x="0" y="638283"/>
                  </a:cubicBezTo>
                  <a:lnTo>
                    <a:pt x="0" y="62098"/>
                  </a:lnTo>
                  <a:cubicBezTo>
                    <a:pt x="0" y="45628"/>
                    <a:pt x="6542" y="29833"/>
                    <a:pt x="18188" y="18188"/>
                  </a:cubicBezTo>
                  <a:cubicBezTo>
                    <a:pt x="29833" y="6542"/>
                    <a:pt x="45628" y="0"/>
                    <a:pt x="62098" y="0"/>
                  </a:cubicBezTo>
                  <a:close/>
                </a:path>
              </a:pathLst>
            </a:custGeom>
            <a:solidFill>
              <a:srgbClr val="0C5B9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674627" cy="738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43116" y="7094455"/>
            <a:ext cx="6364242" cy="2180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 b="1" dirty="0">
                <a:solidFill>
                  <a:srgbClr val="BDE1E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Benefits</a:t>
            </a:r>
          </a:p>
          <a:p>
            <a:pPr marL="518160" lvl="1" indent="-259080" algn="ctr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b="1" dirty="0">
                <a:solidFill>
                  <a:srgbClr val="BDE1E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TIME: </a:t>
            </a:r>
            <a:r>
              <a:rPr lang="en-US" sz="2400" dirty="0">
                <a:solidFill>
                  <a:srgbClr val="BDE1EE"/>
                </a:solidFill>
                <a:latin typeface="Canva Sans"/>
                <a:ea typeface="Canva Sans"/>
                <a:cs typeface="Canva Sans"/>
                <a:sym typeface="Canva Sans"/>
              </a:rPr>
              <a:t>45 sec booking (vs 2 </a:t>
            </a:r>
            <a:r>
              <a:rPr lang="en-US" sz="2400" dirty="0" err="1">
                <a:solidFill>
                  <a:srgbClr val="BDE1EE"/>
                </a:solidFill>
                <a:latin typeface="Canva Sans"/>
                <a:ea typeface="Canva Sans"/>
                <a:cs typeface="Canva Sans"/>
                <a:sym typeface="Canva Sans"/>
              </a:rPr>
              <a:t>hrs</a:t>
            </a:r>
            <a:r>
              <a:rPr lang="en-US" sz="2400" dirty="0">
                <a:solidFill>
                  <a:srgbClr val="BDE1EE"/>
                </a:solidFill>
                <a:latin typeface="Canva Sans"/>
                <a:ea typeface="Canva Sans"/>
                <a:cs typeface="Canva Sans"/>
                <a:sym typeface="Canva Sans"/>
              </a:rPr>
              <a:t>)</a:t>
            </a:r>
          </a:p>
          <a:p>
            <a:pPr marL="518160" lvl="1" indent="-259080" algn="ctr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b="1" dirty="0">
                <a:solidFill>
                  <a:srgbClr val="BDE1E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COST: </a:t>
            </a:r>
            <a:r>
              <a:rPr lang="en-US" sz="2400" dirty="0">
                <a:solidFill>
                  <a:srgbClr val="BDE1EE"/>
                </a:solidFill>
                <a:latin typeface="Canva Sans"/>
                <a:ea typeface="Canva Sans"/>
                <a:cs typeface="Canva Sans"/>
                <a:sym typeface="Canva Sans"/>
              </a:rPr>
              <a:t>₹1,400 saved/service</a:t>
            </a:r>
          </a:p>
          <a:p>
            <a:pPr marL="518160" lvl="1" indent="-259080" algn="ctr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b="1" dirty="0">
                <a:solidFill>
                  <a:srgbClr val="BDE1E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ACCURACY: </a:t>
            </a:r>
            <a:r>
              <a:rPr lang="en-US" sz="2400" dirty="0">
                <a:solidFill>
                  <a:srgbClr val="BDE1EE"/>
                </a:solidFill>
                <a:latin typeface="Canva Sans"/>
                <a:ea typeface="Canva Sans"/>
                <a:cs typeface="Canva Sans"/>
                <a:sym typeface="Canva Sans"/>
              </a:rPr>
              <a:t>93% breakdown prevention</a:t>
            </a:r>
          </a:p>
          <a:p>
            <a:pPr marL="518160" lvl="1" indent="-259080" algn="ctr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b="1" dirty="0">
                <a:solidFill>
                  <a:srgbClr val="BDE1E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QUALITY: </a:t>
            </a:r>
            <a:r>
              <a:rPr lang="en-US" sz="2400" dirty="0">
                <a:solidFill>
                  <a:srgbClr val="BDE1EE"/>
                </a:solidFill>
                <a:latin typeface="Canva Sans"/>
                <a:ea typeface="Canva Sans"/>
                <a:cs typeface="Canva Sans"/>
                <a:sym typeface="Canva Sans"/>
              </a:rPr>
              <a:t>Real-time </a:t>
            </a:r>
            <a:r>
              <a:rPr lang="en-US" sz="2400" dirty="0" err="1">
                <a:solidFill>
                  <a:srgbClr val="BDE1EE"/>
                </a:solidFill>
                <a:latin typeface="Canva Sans"/>
                <a:ea typeface="Canva Sans"/>
                <a:cs typeface="Canva Sans"/>
                <a:sym typeface="Canva Sans"/>
              </a:rPr>
              <a:t>mfg</a:t>
            </a:r>
            <a:r>
              <a:rPr lang="en-US" sz="2400" dirty="0">
                <a:solidFill>
                  <a:srgbClr val="BDE1EE"/>
                </a:solidFill>
                <a:latin typeface="Canva Sans"/>
                <a:ea typeface="Canva Sans"/>
                <a:cs typeface="Canva Sans"/>
                <a:sym typeface="Canva Sans"/>
              </a:rPr>
              <a:t> feedback loop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062" y="2336828"/>
            <a:ext cx="3371245" cy="3291504"/>
          </a:xfrm>
          <a:prstGeom prst="rect">
            <a:avLst/>
          </a:prstGeom>
        </p:spPr>
      </p:pic>
      <p:grpSp>
        <p:nvGrpSpPr>
          <p:cNvPr id="21" name="Group 21"/>
          <p:cNvGrpSpPr/>
          <p:nvPr/>
        </p:nvGrpSpPr>
        <p:grpSpPr>
          <a:xfrm>
            <a:off x="12461022" y="7094455"/>
            <a:ext cx="5605887" cy="2659258"/>
            <a:chOff x="0" y="0"/>
            <a:chExt cx="1476448" cy="70038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76448" cy="700381"/>
            </a:xfrm>
            <a:custGeom>
              <a:avLst/>
              <a:gdLst/>
              <a:ahLst/>
              <a:cxnLst/>
              <a:rect l="l" t="t" r="r" b="b"/>
              <a:pathLst>
                <a:path w="1476448" h="700381">
                  <a:moveTo>
                    <a:pt x="70433" y="0"/>
                  </a:moveTo>
                  <a:lnTo>
                    <a:pt x="1406015" y="0"/>
                  </a:lnTo>
                  <a:cubicBezTo>
                    <a:pt x="1444914" y="0"/>
                    <a:pt x="1476448" y="31534"/>
                    <a:pt x="1476448" y="70433"/>
                  </a:cubicBezTo>
                  <a:lnTo>
                    <a:pt x="1476448" y="629948"/>
                  </a:lnTo>
                  <a:cubicBezTo>
                    <a:pt x="1476448" y="668847"/>
                    <a:pt x="1444914" y="700381"/>
                    <a:pt x="1406015" y="700381"/>
                  </a:cubicBezTo>
                  <a:lnTo>
                    <a:pt x="70433" y="700381"/>
                  </a:lnTo>
                  <a:cubicBezTo>
                    <a:pt x="31534" y="700381"/>
                    <a:pt x="0" y="668847"/>
                    <a:pt x="0" y="629948"/>
                  </a:cubicBezTo>
                  <a:lnTo>
                    <a:pt x="0" y="70433"/>
                  </a:lnTo>
                  <a:cubicBezTo>
                    <a:pt x="0" y="31534"/>
                    <a:pt x="31534" y="0"/>
                    <a:pt x="70433" y="0"/>
                  </a:cubicBezTo>
                  <a:close/>
                </a:path>
              </a:pathLst>
            </a:custGeom>
            <a:solidFill>
              <a:srgbClr val="0C5B90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476448" cy="738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624889" y="7578264"/>
            <a:ext cx="5278151" cy="165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BDE1EE"/>
                </a:solidFill>
                <a:latin typeface="Canva Sans"/>
                <a:ea typeface="Canva Sans"/>
                <a:cs typeface="Canva Sans"/>
                <a:sym typeface="Canva Sans"/>
              </a:rPr>
              <a:t>Addressable Market: 15M Hero vehicles </a:t>
            </a:r>
          </a:p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BDE1EE"/>
                </a:solidFill>
                <a:latin typeface="Canva Sans"/>
                <a:ea typeface="Canva Sans"/>
                <a:cs typeface="Canva Sans"/>
                <a:sym typeface="Canva Sans"/>
              </a:rPr>
              <a:t>Total Addressable Market (TAM): ₹45K Cr (3-yr horizon)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213267" y="7094455"/>
            <a:ext cx="4641845" cy="2659258"/>
            <a:chOff x="0" y="0"/>
            <a:chExt cx="1222544" cy="70038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22543" cy="700381"/>
            </a:xfrm>
            <a:custGeom>
              <a:avLst/>
              <a:gdLst/>
              <a:ahLst/>
              <a:cxnLst/>
              <a:rect l="l" t="t" r="r" b="b"/>
              <a:pathLst>
                <a:path w="1222543" h="700381">
                  <a:moveTo>
                    <a:pt x="85061" y="0"/>
                  </a:moveTo>
                  <a:lnTo>
                    <a:pt x="1137483" y="0"/>
                  </a:lnTo>
                  <a:cubicBezTo>
                    <a:pt x="1160042" y="0"/>
                    <a:pt x="1181678" y="8962"/>
                    <a:pt x="1197630" y="24914"/>
                  </a:cubicBezTo>
                  <a:cubicBezTo>
                    <a:pt x="1213582" y="40866"/>
                    <a:pt x="1222543" y="62501"/>
                    <a:pt x="1222543" y="85061"/>
                  </a:cubicBezTo>
                  <a:lnTo>
                    <a:pt x="1222543" y="615320"/>
                  </a:lnTo>
                  <a:cubicBezTo>
                    <a:pt x="1222543" y="662298"/>
                    <a:pt x="1184461" y="700381"/>
                    <a:pt x="1137483" y="700381"/>
                  </a:cubicBezTo>
                  <a:lnTo>
                    <a:pt x="85061" y="700381"/>
                  </a:lnTo>
                  <a:cubicBezTo>
                    <a:pt x="38083" y="700381"/>
                    <a:pt x="0" y="662298"/>
                    <a:pt x="0" y="615320"/>
                  </a:cubicBezTo>
                  <a:lnTo>
                    <a:pt x="0" y="85061"/>
                  </a:lnTo>
                  <a:cubicBezTo>
                    <a:pt x="0" y="62501"/>
                    <a:pt x="8962" y="40866"/>
                    <a:pt x="24914" y="24914"/>
                  </a:cubicBezTo>
                  <a:cubicBezTo>
                    <a:pt x="40866" y="8962"/>
                    <a:pt x="62501" y="0"/>
                    <a:pt x="85061" y="0"/>
                  </a:cubicBezTo>
                  <a:close/>
                </a:path>
              </a:pathLst>
            </a:custGeom>
            <a:solidFill>
              <a:srgbClr val="0C5B9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222544" cy="738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7226021" y="7564611"/>
            <a:ext cx="4616337" cy="1661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i="1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Our Solution: Intelligent Multi-Agent AI Orchestration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8700" y="981075"/>
            <a:ext cx="16183570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BDE1E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Autonomous Predictive Maintenance and Proactive Service Scheduling with Manufacturing Feedback loop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>
            <p:extLst>
              <p:ext uri="{D42A27DB-BD31-4B8C-83A1-F6EECF244321}">
                <p14:modId xmlns:p14="http://schemas.microsoft.com/office/powerpoint/2010/main" val="2303024353"/>
              </p:ext>
            </p:extLst>
          </p:nvPr>
        </p:nvGraphicFramePr>
        <p:xfrm>
          <a:off x="7845425" y="647700"/>
          <a:ext cx="10594975" cy="563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Worksheet" r:id="rId3" imgW="11315700" imgH="6908800" progId="Excel.Sheet.12">
                  <p:embed/>
                </p:oleObj>
              </mc:Choice>
              <mc:Fallback>
                <p:oleObj name="Worksheet" r:id="rId3" imgW="11315700" imgH="6908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45425" y="647700"/>
                        <a:ext cx="10594975" cy="563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452575" y="8526990"/>
            <a:ext cx="1833351" cy="958672"/>
            <a:chOff x="0" y="0"/>
            <a:chExt cx="482858" cy="2524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2858" cy="252490"/>
            </a:xfrm>
            <a:custGeom>
              <a:avLst/>
              <a:gdLst/>
              <a:ahLst/>
              <a:cxnLst/>
              <a:rect l="l" t="t" r="r" b="b"/>
              <a:pathLst>
                <a:path w="482858" h="252490">
                  <a:moveTo>
                    <a:pt x="63342" y="0"/>
                  </a:moveTo>
                  <a:lnTo>
                    <a:pt x="419515" y="0"/>
                  </a:lnTo>
                  <a:cubicBezTo>
                    <a:pt x="436315" y="0"/>
                    <a:pt x="452426" y="6674"/>
                    <a:pt x="464305" y="18553"/>
                  </a:cubicBezTo>
                  <a:cubicBezTo>
                    <a:pt x="476184" y="30432"/>
                    <a:pt x="482858" y="46543"/>
                    <a:pt x="482858" y="63342"/>
                  </a:cubicBezTo>
                  <a:lnTo>
                    <a:pt x="482858" y="189147"/>
                  </a:lnTo>
                  <a:cubicBezTo>
                    <a:pt x="482858" y="205947"/>
                    <a:pt x="476184" y="222058"/>
                    <a:pt x="464305" y="233937"/>
                  </a:cubicBezTo>
                  <a:cubicBezTo>
                    <a:pt x="452426" y="245816"/>
                    <a:pt x="436315" y="252490"/>
                    <a:pt x="419515" y="252490"/>
                  </a:cubicBezTo>
                  <a:lnTo>
                    <a:pt x="63342" y="252490"/>
                  </a:lnTo>
                  <a:cubicBezTo>
                    <a:pt x="46543" y="252490"/>
                    <a:pt x="30432" y="245816"/>
                    <a:pt x="18553" y="233937"/>
                  </a:cubicBezTo>
                  <a:cubicBezTo>
                    <a:pt x="6674" y="222058"/>
                    <a:pt x="0" y="205947"/>
                    <a:pt x="0" y="189147"/>
                  </a:cubicBezTo>
                  <a:lnTo>
                    <a:pt x="0" y="63342"/>
                  </a:lnTo>
                  <a:cubicBezTo>
                    <a:pt x="0" y="46543"/>
                    <a:pt x="6674" y="30432"/>
                    <a:pt x="18553" y="18553"/>
                  </a:cubicBezTo>
                  <a:cubicBezTo>
                    <a:pt x="30432" y="6674"/>
                    <a:pt x="46543" y="0"/>
                    <a:pt x="63342" y="0"/>
                  </a:cubicBezTo>
                  <a:close/>
                </a:path>
              </a:pathLst>
            </a:custGeom>
            <a:solidFill>
              <a:srgbClr val="BDE1E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2858" cy="2905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9285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Vehicle Sensors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14888" y="8526990"/>
            <a:ext cx="1833351" cy="958672"/>
            <a:chOff x="0" y="0"/>
            <a:chExt cx="482858" cy="2524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2858" cy="252490"/>
            </a:xfrm>
            <a:custGeom>
              <a:avLst/>
              <a:gdLst/>
              <a:ahLst/>
              <a:cxnLst/>
              <a:rect l="l" t="t" r="r" b="b"/>
              <a:pathLst>
                <a:path w="482858" h="252490">
                  <a:moveTo>
                    <a:pt x="63342" y="0"/>
                  </a:moveTo>
                  <a:lnTo>
                    <a:pt x="419515" y="0"/>
                  </a:lnTo>
                  <a:cubicBezTo>
                    <a:pt x="436315" y="0"/>
                    <a:pt x="452426" y="6674"/>
                    <a:pt x="464305" y="18553"/>
                  </a:cubicBezTo>
                  <a:cubicBezTo>
                    <a:pt x="476184" y="30432"/>
                    <a:pt x="482858" y="46543"/>
                    <a:pt x="482858" y="63342"/>
                  </a:cubicBezTo>
                  <a:lnTo>
                    <a:pt x="482858" y="189147"/>
                  </a:lnTo>
                  <a:cubicBezTo>
                    <a:pt x="482858" y="205947"/>
                    <a:pt x="476184" y="222058"/>
                    <a:pt x="464305" y="233937"/>
                  </a:cubicBezTo>
                  <a:cubicBezTo>
                    <a:pt x="452426" y="245816"/>
                    <a:pt x="436315" y="252490"/>
                    <a:pt x="419515" y="252490"/>
                  </a:cubicBezTo>
                  <a:lnTo>
                    <a:pt x="63342" y="252490"/>
                  </a:lnTo>
                  <a:cubicBezTo>
                    <a:pt x="46543" y="252490"/>
                    <a:pt x="30432" y="245816"/>
                    <a:pt x="18553" y="233937"/>
                  </a:cubicBezTo>
                  <a:cubicBezTo>
                    <a:pt x="6674" y="222058"/>
                    <a:pt x="0" y="205947"/>
                    <a:pt x="0" y="189147"/>
                  </a:cubicBezTo>
                  <a:lnTo>
                    <a:pt x="0" y="63342"/>
                  </a:lnTo>
                  <a:cubicBezTo>
                    <a:pt x="0" y="46543"/>
                    <a:pt x="6674" y="30432"/>
                    <a:pt x="18553" y="18553"/>
                  </a:cubicBezTo>
                  <a:cubicBezTo>
                    <a:pt x="30432" y="6674"/>
                    <a:pt x="46543" y="0"/>
                    <a:pt x="63342" y="0"/>
                  </a:cubicBezTo>
                  <a:close/>
                </a:path>
              </a:pathLst>
            </a:custGeom>
            <a:solidFill>
              <a:srgbClr val="BDE1E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2858" cy="2905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9285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Real-time Analysis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977202" y="8526990"/>
            <a:ext cx="1833351" cy="958672"/>
            <a:chOff x="0" y="0"/>
            <a:chExt cx="482858" cy="2524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2858" cy="252490"/>
            </a:xfrm>
            <a:custGeom>
              <a:avLst/>
              <a:gdLst/>
              <a:ahLst/>
              <a:cxnLst/>
              <a:rect l="l" t="t" r="r" b="b"/>
              <a:pathLst>
                <a:path w="482858" h="252490">
                  <a:moveTo>
                    <a:pt x="63342" y="0"/>
                  </a:moveTo>
                  <a:lnTo>
                    <a:pt x="419515" y="0"/>
                  </a:lnTo>
                  <a:cubicBezTo>
                    <a:pt x="436315" y="0"/>
                    <a:pt x="452426" y="6674"/>
                    <a:pt x="464305" y="18553"/>
                  </a:cubicBezTo>
                  <a:cubicBezTo>
                    <a:pt x="476184" y="30432"/>
                    <a:pt x="482858" y="46543"/>
                    <a:pt x="482858" y="63342"/>
                  </a:cubicBezTo>
                  <a:lnTo>
                    <a:pt x="482858" y="189147"/>
                  </a:lnTo>
                  <a:cubicBezTo>
                    <a:pt x="482858" y="205947"/>
                    <a:pt x="476184" y="222058"/>
                    <a:pt x="464305" y="233937"/>
                  </a:cubicBezTo>
                  <a:cubicBezTo>
                    <a:pt x="452426" y="245816"/>
                    <a:pt x="436315" y="252490"/>
                    <a:pt x="419515" y="252490"/>
                  </a:cubicBezTo>
                  <a:lnTo>
                    <a:pt x="63342" y="252490"/>
                  </a:lnTo>
                  <a:cubicBezTo>
                    <a:pt x="46543" y="252490"/>
                    <a:pt x="30432" y="245816"/>
                    <a:pt x="18553" y="233937"/>
                  </a:cubicBezTo>
                  <a:cubicBezTo>
                    <a:pt x="6674" y="222058"/>
                    <a:pt x="0" y="205947"/>
                    <a:pt x="0" y="189147"/>
                  </a:cubicBezTo>
                  <a:lnTo>
                    <a:pt x="0" y="63342"/>
                  </a:lnTo>
                  <a:cubicBezTo>
                    <a:pt x="0" y="46543"/>
                    <a:pt x="6674" y="30432"/>
                    <a:pt x="18553" y="18553"/>
                  </a:cubicBezTo>
                  <a:cubicBezTo>
                    <a:pt x="30432" y="6674"/>
                    <a:pt x="46543" y="0"/>
                    <a:pt x="63342" y="0"/>
                  </a:cubicBezTo>
                  <a:close/>
                </a:path>
              </a:pathLst>
            </a:custGeom>
            <a:solidFill>
              <a:srgbClr val="BDE1E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82858" cy="2905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9285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Predictive Insights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239515" y="8526990"/>
            <a:ext cx="1833351" cy="958672"/>
            <a:chOff x="0" y="0"/>
            <a:chExt cx="482858" cy="2524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82858" cy="252490"/>
            </a:xfrm>
            <a:custGeom>
              <a:avLst/>
              <a:gdLst/>
              <a:ahLst/>
              <a:cxnLst/>
              <a:rect l="l" t="t" r="r" b="b"/>
              <a:pathLst>
                <a:path w="482858" h="252490">
                  <a:moveTo>
                    <a:pt x="63342" y="0"/>
                  </a:moveTo>
                  <a:lnTo>
                    <a:pt x="419515" y="0"/>
                  </a:lnTo>
                  <a:cubicBezTo>
                    <a:pt x="436315" y="0"/>
                    <a:pt x="452426" y="6674"/>
                    <a:pt x="464305" y="18553"/>
                  </a:cubicBezTo>
                  <a:cubicBezTo>
                    <a:pt x="476184" y="30432"/>
                    <a:pt x="482858" y="46543"/>
                    <a:pt x="482858" y="63342"/>
                  </a:cubicBezTo>
                  <a:lnTo>
                    <a:pt x="482858" y="189147"/>
                  </a:lnTo>
                  <a:cubicBezTo>
                    <a:pt x="482858" y="205947"/>
                    <a:pt x="476184" y="222058"/>
                    <a:pt x="464305" y="233937"/>
                  </a:cubicBezTo>
                  <a:cubicBezTo>
                    <a:pt x="452426" y="245816"/>
                    <a:pt x="436315" y="252490"/>
                    <a:pt x="419515" y="252490"/>
                  </a:cubicBezTo>
                  <a:lnTo>
                    <a:pt x="63342" y="252490"/>
                  </a:lnTo>
                  <a:cubicBezTo>
                    <a:pt x="46543" y="252490"/>
                    <a:pt x="30432" y="245816"/>
                    <a:pt x="18553" y="233937"/>
                  </a:cubicBezTo>
                  <a:cubicBezTo>
                    <a:pt x="6674" y="222058"/>
                    <a:pt x="0" y="205947"/>
                    <a:pt x="0" y="189147"/>
                  </a:cubicBezTo>
                  <a:lnTo>
                    <a:pt x="0" y="63342"/>
                  </a:lnTo>
                  <a:cubicBezTo>
                    <a:pt x="0" y="46543"/>
                    <a:pt x="6674" y="30432"/>
                    <a:pt x="18553" y="18553"/>
                  </a:cubicBezTo>
                  <a:cubicBezTo>
                    <a:pt x="30432" y="6674"/>
                    <a:pt x="46543" y="0"/>
                    <a:pt x="63342" y="0"/>
                  </a:cubicBezTo>
                  <a:close/>
                </a:path>
              </a:pathLst>
            </a:custGeom>
            <a:solidFill>
              <a:srgbClr val="BDE1EE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82858" cy="2905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9285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Customer Action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501829" y="8526990"/>
            <a:ext cx="1833351" cy="958672"/>
            <a:chOff x="0" y="0"/>
            <a:chExt cx="482858" cy="25249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2858" cy="252490"/>
            </a:xfrm>
            <a:custGeom>
              <a:avLst/>
              <a:gdLst/>
              <a:ahLst/>
              <a:cxnLst/>
              <a:rect l="l" t="t" r="r" b="b"/>
              <a:pathLst>
                <a:path w="482858" h="252490">
                  <a:moveTo>
                    <a:pt x="63342" y="0"/>
                  </a:moveTo>
                  <a:lnTo>
                    <a:pt x="419515" y="0"/>
                  </a:lnTo>
                  <a:cubicBezTo>
                    <a:pt x="436315" y="0"/>
                    <a:pt x="452426" y="6674"/>
                    <a:pt x="464305" y="18553"/>
                  </a:cubicBezTo>
                  <a:cubicBezTo>
                    <a:pt x="476184" y="30432"/>
                    <a:pt x="482858" y="46543"/>
                    <a:pt x="482858" y="63342"/>
                  </a:cubicBezTo>
                  <a:lnTo>
                    <a:pt x="482858" y="189147"/>
                  </a:lnTo>
                  <a:cubicBezTo>
                    <a:pt x="482858" y="205947"/>
                    <a:pt x="476184" y="222058"/>
                    <a:pt x="464305" y="233937"/>
                  </a:cubicBezTo>
                  <a:cubicBezTo>
                    <a:pt x="452426" y="245816"/>
                    <a:pt x="436315" y="252490"/>
                    <a:pt x="419515" y="252490"/>
                  </a:cubicBezTo>
                  <a:lnTo>
                    <a:pt x="63342" y="252490"/>
                  </a:lnTo>
                  <a:cubicBezTo>
                    <a:pt x="46543" y="252490"/>
                    <a:pt x="30432" y="245816"/>
                    <a:pt x="18553" y="233937"/>
                  </a:cubicBezTo>
                  <a:cubicBezTo>
                    <a:pt x="6674" y="222058"/>
                    <a:pt x="0" y="205947"/>
                    <a:pt x="0" y="189147"/>
                  </a:cubicBezTo>
                  <a:lnTo>
                    <a:pt x="0" y="63342"/>
                  </a:lnTo>
                  <a:cubicBezTo>
                    <a:pt x="0" y="46543"/>
                    <a:pt x="6674" y="30432"/>
                    <a:pt x="18553" y="18553"/>
                  </a:cubicBezTo>
                  <a:cubicBezTo>
                    <a:pt x="30432" y="6674"/>
                    <a:pt x="46543" y="0"/>
                    <a:pt x="63342" y="0"/>
                  </a:cubicBezTo>
                  <a:close/>
                </a:path>
              </a:pathLst>
            </a:custGeom>
            <a:solidFill>
              <a:srgbClr val="BDE1EE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82858" cy="2905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dirty="0">
                  <a:solidFill>
                    <a:srgbClr val="09285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Manufacturing Feedback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2285926" y="9006326"/>
            <a:ext cx="428963" cy="0"/>
          </a:xfrm>
          <a:prstGeom prst="line">
            <a:avLst/>
          </a:prstGeom>
          <a:ln w="38100" cap="flat">
            <a:solidFill>
              <a:srgbClr val="BDE1EE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9" name="AutoShape 19"/>
          <p:cNvSpPr/>
          <p:nvPr/>
        </p:nvSpPr>
        <p:spPr>
          <a:xfrm>
            <a:off x="4548239" y="9006326"/>
            <a:ext cx="428963" cy="0"/>
          </a:xfrm>
          <a:prstGeom prst="line">
            <a:avLst/>
          </a:prstGeom>
          <a:ln w="38100" cap="flat">
            <a:solidFill>
              <a:srgbClr val="BDE1EE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0" name="AutoShape 20"/>
          <p:cNvSpPr/>
          <p:nvPr/>
        </p:nvSpPr>
        <p:spPr>
          <a:xfrm>
            <a:off x="6810553" y="9006326"/>
            <a:ext cx="428963" cy="0"/>
          </a:xfrm>
          <a:prstGeom prst="line">
            <a:avLst/>
          </a:prstGeom>
          <a:ln w="38100" cap="flat">
            <a:solidFill>
              <a:srgbClr val="BDE1EE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1" name="AutoShape 21"/>
          <p:cNvSpPr/>
          <p:nvPr/>
        </p:nvSpPr>
        <p:spPr>
          <a:xfrm>
            <a:off x="9072576" y="9019976"/>
            <a:ext cx="429253" cy="0"/>
          </a:xfrm>
          <a:prstGeom prst="line">
            <a:avLst/>
          </a:prstGeom>
          <a:ln w="38100" cap="flat">
            <a:solidFill>
              <a:srgbClr val="BDE1EE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5" name="Group 25"/>
          <p:cNvGrpSpPr/>
          <p:nvPr/>
        </p:nvGrpSpPr>
        <p:grpSpPr>
          <a:xfrm>
            <a:off x="366259" y="1637777"/>
            <a:ext cx="7478769" cy="6280136"/>
            <a:chOff x="0" y="0"/>
            <a:chExt cx="9971691" cy="8373515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9971691" cy="8373515"/>
              <a:chOff x="0" y="0"/>
              <a:chExt cx="2057354" cy="1727619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2057354" cy="1727619"/>
              </a:xfrm>
              <a:custGeom>
                <a:avLst/>
                <a:gdLst/>
                <a:ahLst/>
                <a:cxnLst/>
                <a:rect l="l" t="t" r="r" b="b"/>
                <a:pathLst>
                  <a:path w="2057354" h="1727619">
                    <a:moveTo>
                      <a:pt x="50546" y="0"/>
                    </a:moveTo>
                    <a:lnTo>
                      <a:pt x="2006808" y="0"/>
                    </a:lnTo>
                    <a:cubicBezTo>
                      <a:pt x="2020214" y="0"/>
                      <a:pt x="2033070" y="5325"/>
                      <a:pt x="2042549" y="14804"/>
                    </a:cubicBezTo>
                    <a:cubicBezTo>
                      <a:pt x="2052028" y="24284"/>
                      <a:pt x="2057354" y="37140"/>
                      <a:pt x="2057354" y="50546"/>
                    </a:cubicBezTo>
                    <a:lnTo>
                      <a:pt x="2057354" y="1677073"/>
                    </a:lnTo>
                    <a:cubicBezTo>
                      <a:pt x="2057354" y="1690479"/>
                      <a:pt x="2052028" y="1703335"/>
                      <a:pt x="2042549" y="1712814"/>
                    </a:cubicBezTo>
                    <a:cubicBezTo>
                      <a:pt x="2033070" y="1722294"/>
                      <a:pt x="2020214" y="1727619"/>
                      <a:pt x="2006808" y="1727619"/>
                    </a:cubicBezTo>
                    <a:lnTo>
                      <a:pt x="50546" y="1727619"/>
                    </a:lnTo>
                    <a:cubicBezTo>
                      <a:pt x="37140" y="1727619"/>
                      <a:pt x="24284" y="1722294"/>
                      <a:pt x="14804" y="1712814"/>
                    </a:cubicBezTo>
                    <a:cubicBezTo>
                      <a:pt x="5325" y="1703335"/>
                      <a:pt x="0" y="1690479"/>
                      <a:pt x="0" y="1677073"/>
                    </a:cubicBezTo>
                    <a:lnTo>
                      <a:pt x="0" y="50546"/>
                    </a:lnTo>
                    <a:cubicBezTo>
                      <a:pt x="0" y="37140"/>
                      <a:pt x="5325" y="24284"/>
                      <a:pt x="14804" y="14804"/>
                    </a:cubicBezTo>
                    <a:cubicBezTo>
                      <a:pt x="24284" y="5325"/>
                      <a:pt x="37140" y="0"/>
                      <a:pt x="50546" y="0"/>
                    </a:cubicBezTo>
                    <a:close/>
                  </a:path>
                </a:pathLst>
              </a:custGeom>
              <a:solidFill>
                <a:srgbClr val="BDE1EE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2057354" cy="176571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9" name="Freeform 29"/>
            <p:cNvSpPr/>
            <p:nvPr/>
          </p:nvSpPr>
          <p:spPr>
            <a:xfrm>
              <a:off x="538026" y="233758"/>
              <a:ext cx="8895640" cy="7906000"/>
            </a:xfrm>
            <a:custGeom>
              <a:avLst/>
              <a:gdLst/>
              <a:ahLst/>
              <a:cxnLst/>
              <a:rect l="l" t="t" r="r" b="b"/>
              <a:pathLst>
                <a:path w="8895640" h="7906000">
                  <a:moveTo>
                    <a:pt x="0" y="0"/>
                  </a:moveTo>
                  <a:lnTo>
                    <a:pt x="8895640" y="0"/>
                  </a:lnTo>
                  <a:lnTo>
                    <a:pt x="8895640" y="7905999"/>
                  </a:lnTo>
                  <a:lnTo>
                    <a:pt x="0" y="79059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30" name="AutoShape 30"/>
          <p:cNvSpPr/>
          <p:nvPr/>
        </p:nvSpPr>
        <p:spPr>
          <a:xfrm>
            <a:off x="10418504" y="9485662"/>
            <a:ext cx="0" cy="435252"/>
          </a:xfrm>
          <a:prstGeom prst="line">
            <a:avLst/>
          </a:prstGeom>
          <a:ln w="38100" cap="flat">
            <a:solidFill>
              <a:srgbClr val="BDE1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AutoShape 31"/>
          <p:cNvSpPr/>
          <p:nvPr/>
        </p:nvSpPr>
        <p:spPr>
          <a:xfrm flipH="1">
            <a:off x="1369250" y="9920913"/>
            <a:ext cx="9049254" cy="0"/>
          </a:xfrm>
          <a:prstGeom prst="line">
            <a:avLst/>
          </a:prstGeom>
          <a:ln w="38100" cap="flat">
            <a:solidFill>
              <a:srgbClr val="BDE1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AutoShape 32"/>
          <p:cNvSpPr/>
          <p:nvPr/>
        </p:nvSpPr>
        <p:spPr>
          <a:xfrm flipH="1">
            <a:off x="1369250" y="9485662"/>
            <a:ext cx="0" cy="435252"/>
          </a:xfrm>
          <a:prstGeom prst="line">
            <a:avLst/>
          </a:prstGeom>
          <a:ln w="38100" cap="flat">
            <a:solidFill>
              <a:srgbClr val="BDE1EE"/>
            </a:solidFill>
            <a:prstDash val="solid"/>
            <a:headEnd type="arrow" w="med" len="sm"/>
            <a:tailEnd type="none" w="sm" len="sm"/>
          </a:ln>
        </p:spPr>
      </p:sp>
      <p:graphicFrame>
        <p:nvGraphicFramePr>
          <p:cNvPr id="33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405870"/>
              </p:ext>
            </p:extLst>
          </p:nvPr>
        </p:nvGraphicFramePr>
        <p:xfrm>
          <a:off x="12251855" y="6130745"/>
          <a:ext cx="5526739" cy="3469219"/>
        </p:xfrm>
        <a:graphic>
          <a:graphicData uri="http://schemas.openxmlformats.org/drawingml/2006/table">
            <a:tbl>
              <a:tblPr/>
              <a:tblGrid>
                <a:gridCol w="2842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4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3891"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BEFORE AI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AFTER AI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7164"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Sharma ignores dash light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→ Proactive voice call Day 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7164"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Breakdown on Day 14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→ Scheduled service Day 10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1000"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₹18K repair + ₹5K towing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→ ₹3.5K preventive repair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TextBox 34"/>
          <p:cNvSpPr txBox="1"/>
          <p:nvPr/>
        </p:nvSpPr>
        <p:spPr>
          <a:xfrm>
            <a:off x="574824" y="200659"/>
            <a:ext cx="11312376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59"/>
              </a:lnSpc>
              <a:spcBef>
                <a:spcPct val="0"/>
              </a:spcBef>
            </a:pPr>
            <a:r>
              <a:rPr lang="en-US" sz="4899" b="1" dirty="0">
                <a:solidFill>
                  <a:srgbClr val="BDE1E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Master Agent Orchestration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4824" y="971550"/>
            <a:ext cx="698113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BDE1E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Agentic AI-Driven Predictive Ecosystem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69250" y="9599963"/>
            <a:ext cx="9049254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BDE1EE"/>
                </a:solidFill>
                <a:latin typeface="Canva Sans"/>
                <a:ea typeface="Canva Sans"/>
                <a:cs typeface="Canva Sans"/>
                <a:sym typeface="Canva Sans"/>
              </a:rPr>
              <a:t>Design improvements → Next-gen vehicles (6-month cycle)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>
            <p:extLst>
              <p:ext uri="{D42A27DB-BD31-4B8C-83A1-F6EECF244321}">
                <p14:modId xmlns:p14="http://schemas.microsoft.com/office/powerpoint/2010/main" val="3381212693"/>
              </p:ext>
            </p:extLst>
          </p:nvPr>
        </p:nvGraphicFramePr>
        <p:xfrm>
          <a:off x="9654489" y="6356440"/>
          <a:ext cx="8376695" cy="4065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Worksheet" r:id="rId3" imgW="9042400" imgH="5270500" progId="Excel.Sheet.12">
                  <p:embed/>
                </p:oleObj>
              </mc:Choice>
              <mc:Fallback>
                <p:oleObj name="Worksheet" r:id="rId3" imgW="9042400" imgH="52705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654489" y="6356440"/>
                        <a:ext cx="8376695" cy="40655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211720" y="1777902"/>
            <a:ext cx="6729435" cy="8176053"/>
            <a:chOff x="0" y="0"/>
            <a:chExt cx="1772361" cy="2153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72361" cy="2153364"/>
            </a:xfrm>
            <a:custGeom>
              <a:avLst/>
              <a:gdLst/>
              <a:ahLst/>
              <a:cxnLst/>
              <a:rect l="l" t="t" r="r" b="b"/>
              <a:pathLst>
                <a:path w="1772361" h="2153364">
                  <a:moveTo>
                    <a:pt x="58673" y="0"/>
                  </a:moveTo>
                  <a:lnTo>
                    <a:pt x="1713688" y="0"/>
                  </a:lnTo>
                  <a:cubicBezTo>
                    <a:pt x="1729249" y="0"/>
                    <a:pt x="1744173" y="6182"/>
                    <a:pt x="1755176" y="17185"/>
                  </a:cubicBezTo>
                  <a:cubicBezTo>
                    <a:pt x="1766180" y="28188"/>
                    <a:pt x="1772361" y="43112"/>
                    <a:pt x="1772361" y="58673"/>
                  </a:cubicBezTo>
                  <a:lnTo>
                    <a:pt x="1772361" y="2094690"/>
                  </a:lnTo>
                  <a:cubicBezTo>
                    <a:pt x="1772361" y="2110252"/>
                    <a:pt x="1766180" y="2125175"/>
                    <a:pt x="1755176" y="2136179"/>
                  </a:cubicBezTo>
                  <a:cubicBezTo>
                    <a:pt x="1744173" y="2147182"/>
                    <a:pt x="1729249" y="2153364"/>
                    <a:pt x="1713688" y="2153364"/>
                  </a:cubicBezTo>
                  <a:lnTo>
                    <a:pt x="58673" y="2153364"/>
                  </a:lnTo>
                  <a:cubicBezTo>
                    <a:pt x="43112" y="2153364"/>
                    <a:pt x="28188" y="2147182"/>
                    <a:pt x="17185" y="2136179"/>
                  </a:cubicBezTo>
                  <a:cubicBezTo>
                    <a:pt x="6182" y="2125175"/>
                    <a:pt x="0" y="2110252"/>
                    <a:pt x="0" y="2094690"/>
                  </a:cubicBezTo>
                  <a:lnTo>
                    <a:pt x="0" y="58673"/>
                  </a:lnTo>
                  <a:cubicBezTo>
                    <a:pt x="0" y="43112"/>
                    <a:pt x="6182" y="28188"/>
                    <a:pt x="17185" y="17185"/>
                  </a:cubicBezTo>
                  <a:cubicBezTo>
                    <a:pt x="28188" y="6182"/>
                    <a:pt x="43112" y="0"/>
                    <a:pt x="58673" y="0"/>
                  </a:cubicBezTo>
                  <a:close/>
                </a:path>
              </a:pathLst>
            </a:custGeom>
            <a:solidFill>
              <a:srgbClr val="0C466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72361" cy="2191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40348" y="2414272"/>
            <a:ext cx="6045538" cy="2047697"/>
            <a:chOff x="0" y="0"/>
            <a:chExt cx="1592240" cy="5393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92241" cy="539311"/>
            </a:xfrm>
            <a:custGeom>
              <a:avLst/>
              <a:gdLst/>
              <a:ahLst/>
              <a:cxnLst/>
              <a:rect l="l" t="t" r="r" b="b"/>
              <a:pathLst>
                <a:path w="1592241" h="539311">
                  <a:moveTo>
                    <a:pt x="65311" y="0"/>
                  </a:moveTo>
                  <a:lnTo>
                    <a:pt x="1526930" y="0"/>
                  </a:lnTo>
                  <a:cubicBezTo>
                    <a:pt x="1563000" y="0"/>
                    <a:pt x="1592241" y="29241"/>
                    <a:pt x="1592241" y="65311"/>
                  </a:cubicBezTo>
                  <a:lnTo>
                    <a:pt x="1592241" y="474000"/>
                  </a:lnTo>
                  <a:cubicBezTo>
                    <a:pt x="1592241" y="510070"/>
                    <a:pt x="1563000" y="539311"/>
                    <a:pt x="1526930" y="539311"/>
                  </a:cubicBezTo>
                  <a:lnTo>
                    <a:pt x="65311" y="539311"/>
                  </a:lnTo>
                  <a:cubicBezTo>
                    <a:pt x="29241" y="539311"/>
                    <a:pt x="0" y="510070"/>
                    <a:pt x="0" y="474000"/>
                  </a:cubicBezTo>
                  <a:lnTo>
                    <a:pt x="0" y="65311"/>
                  </a:lnTo>
                  <a:cubicBezTo>
                    <a:pt x="0" y="29241"/>
                    <a:pt x="29241" y="0"/>
                    <a:pt x="65311" y="0"/>
                  </a:cubicBezTo>
                  <a:close/>
                </a:path>
              </a:pathLst>
            </a:custGeom>
            <a:solidFill>
              <a:srgbClr val="BDE1E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592240" cy="586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40348" y="3016823"/>
            <a:ext cx="1221584" cy="963941"/>
          </a:xfrm>
          <a:custGeom>
            <a:avLst/>
            <a:gdLst/>
            <a:ahLst/>
            <a:cxnLst/>
            <a:rect l="l" t="t" r="r" b="b"/>
            <a:pathLst>
              <a:path w="1221584" h="963941">
                <a:moveTo>
                  <a:pt x="0" y="0"/>
                </a:moveTo>
                <a:lnTo>
                  <a:pt x="1221583" y="0"/>
                </a:lnTo>
                <a:lnTo>
                  <a:pt x="1221583" y="963940"/>
                </a:lnTo>
                <a:lnTo>
                  <a:pt x="0" y="9639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683687" y="4671519"/>
            <a:ext cx="5872179" cy="1452541"/>
            <a:chOff x="0" y="0"/>
            <a:chExt cx="1546582" cy="38256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46582" cy="382562"/>
            </a:xfrm>
            <a:custGeom>
              <a:avLst/>
              <a:gdLst/>
              <a:ahLst/>
              <a:cxnLst/>
              <a:rect l="l" t="t" r="r" b="b"/>
              <a:pathLst>
                <a:path w="1546582" h="382562">
                  <a:moveTo>
                    <a:pt x="67239" y="0"/>
                  </a:moveTo>
                  <a:lnTo>
                    <a:pt x="1479344" y="0"/>
                  </a:lnTo>
                  <a:cubicBezTo>
                    <a:pt x="1516478" y="0"/>
                    <a:pt x="1546582" y="30104"/>
                    <a:pt x="1546582" y="67239"/>
                  </a:cubicBezTo>
                  <a:lnTo>
                    <a:pt x="1546582" y="315323"/>
                  </a:lnTo>
                  <a:cubicBezTo>
                    <a:pt x="1546582" y="352458"/>
                    <a:pt x="1516478" y="382562"/>
                    <a:pt x="1479344" y="382562"/>
                  </a:cubicBezTo>
                  <a:lnTo>
                    <a:pt x="67239" y="382562"/>
                  </a:lnTo>
                  <a:cubicBezTo>
                    <a:pt x="30104" y="382562"/>
                    <a:pt x="0" y="352458"/>
                    <a:pt x="0" y="315323"/>
                  </a:cubicBezTo>
                  <a:lnTo>
                    <a:pt x="0" y="67239"/>
                  </a:lnTo>
                  <a:cubicBezTo>
                    <a:pt x="0" y="30104"/>
                    <a:pt x="30104" y="0"/>
                    <a:pt x="67239" y="0"/>
                  </a:cubicBezTo>
                  <a:close/>
                </a:path>
              </a:pathLst>
            </a:custGeom>
            <a:solidFill>
              <a:srgbClr val="BDE1E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546582" cy="430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97008" y="6371709"/>
            <a:ext cx="5958859" cy="1857859"/>
            <a:chOff x="0" y="0"/>
            <a:chExt cx="1569411" cy="48931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69411" cy="489313"/>
            </a:xfrm>
            <a:custGeom>
              <a:avLst/>
              <a:gdLst/>
              <a:ahLst/>
              <a:cxnLst/>
              <a:rect l="l" t="t" r="r" b="b"/>
              <a:pathLst>
                <a:path w="1569411" h="489313">
                  <a:moveTo>
                    <a:pt x="66261" y="0"/>
                  </a:moveTo>
                  <a:lnTo>
                    <a:pt x="1503151" y="0"/>
                  </a:lnTo>
                  <a:cubicBezTo>
                    <a:pt x="1539745" y="0"/>
                    <a:pt x="1569411" y="29666"/>
                    <a:pt x="1569411" y="66261"/>
                  </a:cubicBezTo>
                  <a:lnTo>
                    <a:pt x="1569411" y="423052"/>
                  </a:lnTo>
                  <a:cubicBezTo>
                    <a:pt x="1569411" y="440625"/>
                    <a:pt x="1562430" y="457479"/>
                    <a:pt x="1550004" y="469905"/>
                  </a:cubicBezTo>
                  <a:cubicBezTo>
                    <a:pt x="1537578" y="482332"/>
                    <a:pt x="1520724" y="489313"/>
                    <a:pt x="1503151" y="489313"/>
                  </a:cubicBezTo>
                  <a:lnTo>
                    <a:pt x="66261" y="489313"/>
                  </a:lnTo>
                  <a:cubicBezTo>
                    <a:pt x="29666" y="489313"/>
                    <a:pt x="0" y="459647"/>
                    <a:pt x="0" y="423052"/>
                  </a:cubicBezTo>
                  <a:lnTo>
                    <a:pt x="0" y="66261"/>
                  </a:lnTo>
                  <a:cubicBezTo>
                    <a:pt x="0" y="29666"/>
                    <a:pt x="29666" y="0"/>
                    <a:pt x="66261" y="0"/>
                  </a:cubicBezTo>
                  <a:close/>
                </a:path>
              </a:pathLst>
            </a:custGeom>
            <a:solidFill>
              <a:srgbClr val="BDE1EE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569411" cy="5369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53668" y="8435736"/>
            <a:ext cx="5872179" cy="1518219"/>
            <a:chOff x="0" y="0"/>
            <a:chExt cx="1546582" cy="3998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46582" cy="399860"/>
            </a:xfrm>
            <a:custGeom>
              <a:avLst/>
              <a:gdLst/>
              <a:ahLst/>
              <a:cxnLst/>
              <a:rect l="l" t="t" r="r" b="b"/>
              <a:pathLst>
                <a:path w="1546582" h="399860">
                  <a:moveTo>
                    <a:pt x="67239" y="0"/>
                  </a:moveTo>
                  <a:lnTo>
                    <a:pt x="1479344" y="0"/>
                  </a:lnTo>
                  <a:cubicBezTo>
                    <a:pt x="1516478" y="0"/>
                    <a:pt x="1546582" y="30104"/>
                    <a:pt x="1546582" y="67239"/>
                  </a:cubicBezTo>
                  <a:lnTo>
                    <a:pt x="1546582" y="332621"/>
                  </a:lnTo>
                  <a:cubicBezTo>
                    <a:pt x="1546582" y="369756"/>
                    <a:pt x="1516478" y="399860"/>
                    <a:pt x="1479344" y="399860"/>
                  </a:cubicBezTo>
                  <a:lnTo>
                    <a:pt x="67239" y="399860"/>
                  </a:lnTo>
                  <a:cubicBezTo>
                    <a:pt x="30104" y="399860"/>
                    <a:pt x="0" y="369756"/>
                    <a:pt x="0" y="332621"/>
                  </a:cubicBezTo>
                  <a:lnTo>
                    <a:pt x="0" y="67239"/>
                  </a:lnTo>
                  <a:cubicBezTo>
                    <a:pt x="0" y="30104"/>
                    <a:pt x="30104" y="0"/>
                    <a:pt x="67239" y="0"/>
                  </a:cubicBezTo>
                  <a:close/>
                </a:path>
              </a:pathLst>
            </a:custGeom>
            <a:solidFill>
              <a:srgbClr val="BDE1EE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546582" cy="447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730032" y="4888142"/>
            <a:ext cx="1042214" cy="977786"/>
          </a:xfrm>
          <a:custGeom>
            <a:avLst/>
            <a:gdLst/>
            <a:ahLst/>
            <a:cxnLst/>
            <a:rect l="l" t="t" r="r" b="b"/>
            <a:pathLst>
              <a:path w="1042214" h="977786">
                <a:moveTo>
                  <a:pt x="0" y="0"/>
                </a:moveTo>
                <a:lnTo>
                  <a:pt x="1042214" y="0"/>
                </a:lnTo>
                <a:lnTo>
                  <a:pt x="1042214" y="977786"/>
                </a:lnTo>
                <a:lnTo>
                  <a:pt x="0" y="9777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778330" y="6744045"/>
            <a:ext cx="945619" cy="951813"/>
          </a:xfrm>
          <a:custGeom>
            <a:avLst/>
            <a:gdLst/>
            <a:ahLst/>
            <a:cxnLst/>
            <a:rect l="l" t="t" r="r" b="b"/>
            <a:pathLst>
              <a:path w="945619" h="951813">
                <a:moveTo>
                  <a:pt x="0" y="0"/>
                </a:moveTo>
                <a:lnTo>
                  <a:pt x="945619" y="0"/>
                </a:lnTo>
                <a:lnTo>
                  <a:pt x="945619" y="951813"/>
                </a:lnTo>
                <a:lnTo>
                  <a:pt x="0" y="9518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877672" y="8581683"/>
            <a:ext cx="746935" cy="989913"/>
          </a:xfrm>
          <a:custGeom>
            <a:avLst/>
            <a:gdLst/>
            <a:ahLst/>
            <a:cxnLst/>
            <a:rect l="l" t="t" r="r" b="b"/>
            <a:pathLst>
              <a:path w="746935" h="989913">
                <a:moveTo>
                  <a:pt x="0" y="0"/>
                </a:moveTo>
                <a:lnTo>
                  <a:pt x="746935" y="0"/>
                </a:lnTo>
                <a:lnTo>
                  <a:pt x="746935" y="989913"/>
                </a:lnTo>
                <a:lnTo>
                  <a:pt x="0" y="98991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10209598" y="1485900"/>
            <a:ext cx="7049702" cy="5151916"/>
            <a:chOff x="0" y="0"/>
            <a:chExt cx="1856712" cy="135688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856712" cy="1356883"/>
            </a:xfrm>
            <a:custGeom>
              <a:avLst/>
              <a:gdLst/>
              <a:ahLst/>
              <a:cxnLst/>
              <a:rect l="l" t="t" r="r" b="b"/>
              <a:pathLst>
                <a:path w="1856712" h="1356883">
                  <a:moveTo>
                    <a:pt x="56008" y="0"/>
                  </a:moveTo>
                  <a:lnTo>
                    <a:pt x="1800704" y="0"/>
                  </a:lnTo>
                  <a:cubicBezTo>
                    <a:pt x="1815558" y="0"/>
                    <a:pt x="1829804" y="5901"/>
                    <a:pt x="1840307" y="16404"/>
                  </a:cubicBezTo>
                  <a:cubicBezTo>
                    <a:pt x="1850811" y="26908"/>
                    <a:pt x="1856712" y="41154"/>
                    <a:pt x="1856712" y="56008"/>
                  </a:cubicBezTo>
                  <a:lnTo>
                    <a:pt x="1856712" y="1300876"/>
                  </a:lnTo>
                  <a:cubicBezTo>
                    <a:pt x="1856712" y="1331808"/>
                    <a:pt x="1831636" y="1356883"/>
                    <a:pt x="1800704" y="1356883"/>
                  </a:cubicBezTo>
                  <a:lnTo>
                    <a:pt x="56008" y="1356883"/>
                  </a:lnTo>
                  <a:cubicBezTo>
                    <a:pt x="25076" y="1356883"/>
                    <a:pt x="0" y="1331808"/>
                    <a:pt x="0" y="1300876"/>
                  </a:cubicBezTo>
                  <a:lnTo>
                    <a:pt x="0" y="56008"/>
                  </a:lnTo>
                  <a:cubicBezTo>
                    <a:pt x="0" y="25076"/>
                    <a:pt x="25076" y="0"/>
                    <a:pt x="56008" y="0"/>
                  </a:cubicBezTo>
                  <a:close/>
                </a:path>
              </a:pathLst>
            </a:custGeom>
            <a:solidFill>
              <a:srgbClr val="BDE1EE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856712" cy="13949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 rot="1955741">
            <a:off x="7875969" y="3854046"/>
            <a:ext cx="2167137" cy="2211364"/>
          </a:xfrm>
          <a:custGeom>
            <a:avLst/>
            <a:gdLst/>
            <a:ahLst/>
            <a:cxnLst/>
            <a:rect l="l" t="t" r="r" b="b"/>
            <a:pathLst>
              <a:path w="2167137" h="2211364">
                <a:moveTo>
                  <a:pt x="0" y="0"/>
                </a:moveTo>
                <a:lnTo>
                  <a:pt x="2167137" y="0"/>
                </a:lnTo>
                <a:lnTo>
                  <a:pt x="2167137" y="2211364"/>
                </a:lnTo>
                <a:lnTo>
                  <a:pt x="0" y="221136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2861931" y="5116664"/>
            <a:ext cx="4405678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C5B90"/>
                </a:solidFill>
                <a:latin typeface="Canva Sans"/>
                <a:ea typeface="Canva Sans"/>
                <a:cs typeface="Canva Sans"/>
                <a:sym typeface="Canva Sans"/>
              </a:rPr>
              <a:t>Persuasive AI conversation with real-time booking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8700" y="200659"/>
            <a:ext cx="11391900" cy="2654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59"/>
              </a:lnSpc>
              <a:spcBef>
                <a:spcPct val="0"/>
              </a:spcBef>
            </a:pPr>
            <a:r>
              <a:rPr lang="en-US" sz="4899" b="1" dirty="0">
                <a:solidFill>
                  <a:srgbClr val="BDE1E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Customer Journey</a:t>
            </a:r>
          </a:p>
          <a:p>
            <a:pPr algn="l">
              <a:lnSpc>
                <a:spcPts val="6859"/>
              </a:lnSpc>
              <a:spcBef>
                <a:spcPct val="0"/>
              </a:spcBef>
            </a:pPr>
            <a:endParaRPr lang="en-US" sz="4899" b="1" dirty="0">
              <a:solidFill>
                <a:srgbClr val="BDE1EE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  <a:p>
            <a:pPr algn="l">
              <a:lnSpc>
                <a:spcPts val="6859"/>
              </a:lnSpc>
              <a:spcBef>
                <a:spcPct val="0"/>
              </a:spcBef>
            </a:pPr>
            <a:endParaRPr lang="en-US" sz="4899" b="1" dirty="0">
              <a:solidFill>
                <a:srgbClr val="BDE1EE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28700" y="971550"/>
            <a:ext cx="14592300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BDE1E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End-to-End Demo: VIN456DEF Critical Battery Failure Prevention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106849" y="1876426"/>
            <a:ext cx="2939177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BDE1E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Flow Of Events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170194" y="2543810"/>
            <a:ext cx="1789152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 dirty="0">
                <a:solidFill>
                  <a:srgbClr val="0C5B9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Detection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905271" y="2969198"/>
            <a:ext cx="4104744" cy="1382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9"/>
              </a:lnSpc>
              <a:spcBef>
                <a:spcPct val="0"/>
              </a:spcBef>
            </a:pPr>
            <a:r>
              <a:rPr lang="en-US" sz="1956">
                <a:solidFill>
                  <a:srgbClr val="0C5B90"/>
                </a:solidFill>
                <a:latin typeface="Canva Sans"/>
                <a:ea typeface="Canva Sans"/>
                <a:cs typeface="Canva Sans"/>
                <a:sym typeface="Canva Sans"/>
              </a:rPr>
              <a:t>Data Analysis &amp; Diagnosis Agents trigger 92% battery failure risk</a:t>
            </a:r>
          </a:p>
          <a:p>
            <a:pPr algn="ctr">
              <a:lnSpc>
                <a:spcPts val="2739"/>
              </a:lnSpc>
              <a:spcBef>
                <a:spcPct val="0"/>
              </a:spcBef>
            </a:pPr>
            <a:r>
              <a:rPr lang="en-US" sz="1956">
                <a:solidFill>
                  <a:srgbClr val="0C5B90"/>
                </a:solidFill>
                <a:latin typeface="Canva Sans"/>
                <a:ea typeface="Canva Sans"/>
                <a:cs typeface="Canva Sans"/>
                <a:sym typeface="Canva Sans"/>
              </a:rPr>
              <a:t>+ DTC P0171 detected | 7-day failure timeline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723949" y="4661994"/>
            <a:ext cx="454366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 dirty="0">
                <a:solidFill>
                  <a:srgbClr val="0C5B9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Customer Engagement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825650" y="6438384"/>
            <a:ext cx="2523649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0C5B9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Smart Scheduling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948610" y="6884789"/>
            <a:ext cx="4018065" cy="1239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1"/>
              </a:lnSpc>
              <a:spcBef>
                <a:spcPct val="0"/>
              </a:spcBef>
            </a:pPr>
            <a:r>
              <a:rPr lang="en-US" sz="1815">
                <a:solidFill>
                  <a:srgbClr val="0C5B90"/>
                </a:solidFill>
                <a:latin typeface="Canva Sans"/>
                <a:ea typeface="Canva Sans"/>
                <a:cs typeface="Canva Sans"/>
                <a:sym typeface="Canva Sans"/>
              </a:rPr>
              <a:t>Smart Scheduling Oct 14, 2 PM slot confirmed (1.2 km from customer) Tow service + loaner bike on standby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948609" y="8389217"/>
            <a:ext cx="4018065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 dirty="0">
                <a:solidFill>
                  <a:srgbClr val="0C5B9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UEBA Trigger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609486" y="8717459"/>
            <a:ext cx="4658123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C5B90"/>
                </a:solidFill>
                <a:latin typeface="Canva Sans"/>
                <a:ea typeface="Canva Sans"/>
                <a:cs typeface="Canva Sans"/>
                <a:sym typeface="Canva Sans"/>
              </a:rPr>
              <a:t>Scheduling Agent accessed unauthorized telematics → blocked in 2 s → security alert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168991" y="1487314"/>
            <a:ext cx="7090309" cy="5120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2"/>
              </a:lnSpc>
              <a:spcBef>
                <a:spcPct val="0"/>
              </a:spcBef>
            </a:pPr>
            <a:r>
              <a:rPr lang="en-US" sz="1830">
                <a:solidFill>
                  <a:srgbClr val="0C466D"/>
                </a:solidFill>
                <a:latin typeface="Canva Sans"/>
                <a:ea typeface="Canva Sans"/>
                <a:cs typeface="Canva Sans"/>
                <a:sym typeface="Canva Sans"/>
              </a:rPr>
              <a:t>AI: "Hello Mr. Sharma, Hero Connect here. Our AI detected </a:t>
            </a:r>
          </a:p>
          <a:p>
            <a:pPr algn="ctr">
              <a:lnSpc>
                <a:spcPts val="2562"/>
              </a:lnSpc>
              <a:spcBef>
                <a:spcPct val="0"/>
              </a:spcBef>
            </a:pPr>
            <a:r>
              <a:rPr lang="en-US" sz="1830">
                <a:solidFill>
                  <a:srgbClr val="0C466D"/>
                </a:solidFill>
                <a:latin typeface="Canva Sans"/>
                <a:ea typeface="Canva Sans"/>
                <a:cs typeface="Canva Sans"/>
                <a:sym typeface="Canva Sans"/>
              </a:rPr>
              <a:t> critical battery issue, voltage dropped 12.8V to 11.8V in </a:t>
            </a:r>
          </a:p>
          <a:p>
            <a:pPr algn="ctr">
              <a:lnSpc>
                <a:spcPts val="2562"/>
              </a:lnSpc>
              <a:spcBef>
                <a:spcPct val="0"/>
              </a:spcBef>
            </a:pPr>
            <a:r>
              <a:rPr lang="en-US" sz="1830">
                <a:solidFill>
                  <a:srgbClr val="0C466D"/>
                </a:solidFill>
                <a:latin typeface="Canva Sans"/>
                <a:ea typeface="Canva Sans"/>
                <a:cs typeface="Canva Sans"/>
                <a:sym typeface="Canva Sans"/>
              </a:rPr>
              <a:t> 3 days. 92% failure risk within 7 days."</a:t>
            </a:r>
          </a:p>
          <a:p>
            <a:pPr algn="ctr">
              <a:lnSpc>
                <a:spcPts val="2562"/>
              </a:lnSpc>
              <a:spcBef>
                <a:spcPct val="0"/>
              </a:spcBef>
            </a:pPr>
            <a:endParaRPr lang="en-US" sz="1830">
              <a:solidFill>
                <a:srgbClr val="0C466D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2562"/>
              </a:lnSpc>
              <a:spcBef>
                <a:spcPct val="0"/>
              </a:spcBef>
            </a:pPr>
            <a:r>
              <a:rPr lang="en-US" sz="1830">
                <a:solidFill>
                  <a:srgbClr val="0C466D"/>
                </a:solidFill>
                <a:latin typeface="Canva Sans"/>
                <a:ea typeface="Canva Sans"/>
                <a:cs typeface="Canva Sans"/>
                <a:sym typeface="Canva Sans"/>
              </a:rPr>
              <a:t> Sharma: "But my bike runs fine. Can't this wait?"</a:t>
            </a:r>
          </a:p>
          <a:p>
            <a:pPr algn="ctr">
              <a:lnSpc>
                <a:spcPts val="2562"/>
              </a:lnSpc>
              <a:spcBef>
                <a:spcPct val="0"/>
              </a:spcBef>
            </a:pPr>
            <a:endParaRPr lang="en-US" sz="1830">
              <a:solidFill>
                <a:srgbClr val="0C466D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2562"/>
              </a:lnSpc>
              <a:spcBef>
                <a:spcPct val="0"/>
              </a:spcBef>
            </a:pPr>
            <a:r>
              <a:rPr lang="en-US" sz="1830">
                <a:solidFill>
                  <a:srgbClr val="0C466D"/>
                </a:solidFill>
                <a:latin typeface="Canva Sans"/>
                <a:ea typeface="Canva Sans"/>
                <a:cs typeface="Canva Sans"/>
                <a:sym typeface="Canva Sans"/>
              </a:rPr>
              <a:t>AI: "If battery fails on-road: ₹8K towing + ₹12K repair + </a:t>
            </a:r>
          </a:p>
          <a:p>
            <a:pPr algn="ctr">
              <a:lnSpc>
                <a:spcPts val="2562"/>
              </a:lnSpc>
              <a:spcBef>
                <a:spcPct val="0"/>
              </a:spcBef>
            </a:pPr>
            <a:r>
              <a:rPr lang="en-US" sz="1830">
                <a:solidFill>
                  <a:srgbClr val="0C466D"/>
                </a:solidFill>
                <a:latin typeface="Canva Sans"/>
                <a:ea typeface="Canva Sans"/>
                <a:cs typeface="Canva Sans"/>
                <a:sym typeface="Canva Sans"/>
              </a:rPr>
              <a:t> 4 days downtime. Preventive service today: ₹3,500 + 2 hours."</a:t>
            </a:r>
          </a:p>
          <a:p>
            <a:pPr algn="ctr">
              <a:lnSpc>
                <a:spcPts val="2562"/>
              </a:lnSpc>
              <a:spcBef>
                <a:spcPct val="0"/>
              </a:spcBef>
            </a:pPr>
            <a:endParaRPr lang="en-US" sz="1830">
              <a:solidFill>
                <a:srgbClr val="0C466D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2562"/>
              </a:lnSpc>
              <a:spcBef>
                <a:spcPct val="0"/>
              </a:spcBef>
            </a:pPr>
            <a:r>
              <a:rPr lang="en-US" sz="1830">
                <a:solidFill>
                  <a:srgbClr val="0C466D"/>
                </a:solidFill>
                <a:latin typeface="Canva Sans"/>
                <a:ea typeface="Canva Sans"/>
                <a:cs typeface="Canva Sans"/>
                <a:sym typeface="Canva Sans"/>
              </a:rPr>
              <a:t>Sharma: "I'm busy this week."</a:t>
            </a:r>
          </a:p>
          <a:p>
            <a:pPr algn="ctr">
              <a:lnSpc>
                <a:spcPts val="2562"/>
              </a:lnSpc>
              <a:spcBef>
                <a:spcPct val="0"/>
              </a:spcBef>
            </a:pPr>
            <a:endParaRPr lang="en-US" sz="1830">
              <a:solidFill>
                <a:srgbClr val="0C466D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2562"/>
              </a:lnSpc>
              <a:spcBef>
                <a:spcPct val="0"/>
              </a:spcBef>
            </a:pPr>
            <a:r>
              <a:rPr lang="en-US" sz="1830">
                <a:solidFill>
                  <a:srgbClr val="0C466D"/>
                </a:solidFill>
                <a:latin typeface="Canva Sans"/>
                <a:ea typeface="Canva Sans"/>
                <a:cs typeface="Canva Sans"/>
                <a:sym typeface="Canva Sans"/>
              </a:rPr>
              <a:t>AI: "Tomorrow 2 PM slot—1.2 km from your hub. Mechanic </a:t>
            </a:r>
          </a:p>
          <a:p>
            <a:pPr algn="ctr">
              <a:lnSpc>
                <a:spcPts val="2562"/>
              </a:lnSpc>
              <a:spcBef>
                <a:spcPct val="0"/>
              </a:spcBef>
            </a:pPr>
            <a:r>
              <a:rPr lang="en-US" sz="1830">
                <a:solidFill>
                  <a:srgbClr val="0C466D"/>
                </a:solidFill>
                <a:latin typeface="Canva Sans"/>
                <a:ea typeface="Canva Sans"/>
                <a:cs typeface="Canva Sans"/>
                <a:sym typeface="Canva Sans"/>
              </a:rPr>
              <a:t> Ramesh. Free loaner bike, no work loss."</a:t>
            </a:r>
          </a:p>
          <a:p>
            <a:pPr algn="ctr">
              <a:lnSpc>
                <a:spcPts val="2562"/>
              </a:lnSpc>
              <a:spcBef>
                <a:spcPct val="0"/>
              </a:spcBef>
            </a:pPr>
            <a:endParaRPr lang="en-US" sz="1830">
              <a:solidFill>
                <a:srgbClr val="0C466D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2562"/>
              </a:lnSpc>
              <a:spcBef>
                <a:spcPct val="0"/>
              </a:spcBef>
            </a:pPr>
            <a:r>
              <a:rPr lang="en-US" sz="1830">
                <a:solidFill>
                  <a:srgbClr val="0C466D"/>
                </a:solidFill>
                <a:latin typeface="Canva Sans"/>
                <a:ea typeface="Canva Sans"/>
                <a:cs typeface="Canva Sans"/>
                <a:sym typeface="Canva Sans"/>
              </a:rPr>
              <a:t>Sharma: "Okay, book me Oct 14, 2 PM."</a:t>
            </a:r>
          </a:p>
          <a:p>
            <a:pPr algn="ctr">
              <a:lnSpc>
                <a:spcPts val="2562"/>
              </a:lnSpc>
              <a:spcBef>
                <a:spcPct val="0"/>
              </a:spcBef>
            </a:pPr>
            <a:endParaRPr lang="en-US" sz="1830">
              <a:solidFill>
                <a:srgbClr val="0C466D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817624" y="1588928"/>
          <a:ext cx="13377536" cy="6275139"/>
        </p:xfrm>
        <a:graphic>
          <a:graphicData uri="http://schemas.openxmlformats.org/drawingml/2006/table">
            <a:tbl>
              <a:tblPr/>
              <a:tblGrid>
                <a:gridCol w="1607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2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6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607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942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BDE1E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Scenario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6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BDE1E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Challenge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6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BDE1E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System Response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6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BDE1E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Outcome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6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0703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DE1E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Declined Appointment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B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DE1E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Customer: "I'm too busy this month"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B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DE1E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AI reschedules 3 times → Risk escalates to 94% → Offers free tow + loaner bike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B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DE1E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Customer accepts emergency slot; breakdown prevented; ₹18K saved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B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152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DE1E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Urgent Critical Failure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B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DE1E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98% engine failure risk, &lt;18 hours to failure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B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DE1E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AI bypasses normal flow → Immediate call → If no answer: SMS+app+email in 5 min → Emergency protocol activated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B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DE1E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call → If no answer: SMS+app+email in 5 min → Emergency protocol activatedVehicle towed preventively; major accident avoided; ₹47K saved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B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4973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DE1E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Fleet Owner (8 Vehicles)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B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DE1E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 bikes need simultaneous service; can't afford fleet downtime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B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DE1E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AI staggers appointments across 2 service centers → Provides 2 loaner bikes → Offers 15% fleet discount → Real-time fleet dashboard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B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DE1E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ContinZero operational disruption; ₹28K revenue protecteduity maintained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B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588870" y="7967094"/>
            <a:ext cx="17110259" cy="1987742"/>
            <a:chOff x="0" y="0"/>
            <a:chExt cx="4506406" cy="5235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06406" cy="523520"/>
            </a:xfrm>
            <a:custGeom>
              <a:avLst/>
              <a:gdLst/>
              <a:ahLst/>
              <a:cxnLst/>
              <a:rect l="l" t="t" r="r" b="b"/>
              <a:pathLst>
                <a:path w="4506406" h="523520">
                  <a:moveTo>
                    <a:pt x="23076" y="0"/>
                  </a:moveTo>
                  <a:lnTo>
                    <a:pt x="4483329" y="0"/>
                  </a:lnTo>
                  <a:cubicBezTo>
                    <a:pt x="4489450" y="0"/>
                    <a:pt x="4495319" y="2431"/>
                    <a:pt x="4499647" y="6759"/>
                  </a:cubicBezTo>
                  <a:cubicBezTo>
                    <a:pt x="4503974" y="11086"/>
                    <a:pt x="4506406" y="16956"/>
                    <a:pt x="4506406" y="23076"/>
                  </a:cubicBezTo>
                  <a:lnTo>
                    <a:pt x="4506406" y="500444"/>
                  </a:lnTo>
                  <a:cubicBezTo>
                    <a:pt x="4506406" y="506565"/>
                    <a:pt x="4503974" y="512434"/>
                    <a:pt x="4499647" y="516762"/>
                  </a:cubicBezTo>
                  <a:cubicBezTo>
                    <a:pt x="4495319" y="521089"/>
                    <a:pt x="4489450" y="523520"/>
                    <a:pt x="4483329" y="523520"/>
                  </a:cubicBezTo>
                  <a:lnTo>
                    <a:pt x="23076" y="523520"/>
                  </a:lnTo>
                  <a:cubicBezTo>
                    <a:pt x="16956" y="523520"/>
                    <a:pt x="11086" y="521089"/>
                    <a:pt x="6759" y="516762"/>
                  </a:cubicBezTo>
                  <a:cubicBezTo>
                    <a:pt x="2431" y="512434"/>
                    <a:pt x="0" y="506565"/>
                    <a:pt x="0" y="500444"/>
                  </a:cubicBezTo>
                  <a:lnTo>
                    <a:pt x="0" y="23076"/>
                  </a:lnTo>
                  <a:cubicBezTo>
                    <a:pt x="0" y="16956"/>
                    <a:pt x="2431" y="11086"/>
                    <a:pt x="6759" y="6759"/>
                  </a:cubicBezTo>
                  <a:cubicBezTo>
                    <a:pt x="11086" y="2431"/>
                    <a:pt x="16956" y="0"/>
                    <a:pt x="23076" y="0"/>
                  </a:cubicBezTo>
                  <a:close/>
                </a:path>
              </a:pathLst>
            </a:custGeom>
            <a:solidFill>
              <a:srgbClr val="0C5B9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06406" cy="571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52649" y="8726543"/>
            <a:ext cx="3005732" cy="1063514"/>
            <a:chOff x="0" y="0"/>
            <a:chExt cx="791633" cy="2801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91633" cy="280102"/>
            </a:xfrm>
            <a:custGeom>
              <a:avLst/>
              <a:gdLst/>
              <a:ahLst/>
              <a:cxnLst/>
              <a:rect l="l" t="t" r="r" b="b"/>
              <a:pathLst>
                <a:path w="791633" h="280102">
                  <a:moveTo>
                    <a:pt x="51514" y="0"/>
                  </a:moveTo>
                  <a:lnTo>
                    <a:pt x="740119" y="0"/>
                  </a:lnTo>
                  <a:cubicBezTo>
                    <a:pt x="768569" y="0"/>
                    <a:pt x="791633" y="23064"/>
                    <a:pt x="791633" y="51514"/>
                  </a:cubicBezTo>
                  <a:lnTo>
                    <a:pt x="791633" y="228588"/>
                  </a:lnTo>
                  <a:cubicBezTo>
                    <a:pt x="791633" y="242250"/>
                    <a:pt x="786206" y="255353"/>
                    <a:pt x="776545" y="265014"/>
                  </a:cubicBezTo>
                  <a:cubicBezTo>
                    <a:pt x="766884" y="274675"/>
                    <a:pt x="753781" y="280102"/>
                    <a:pt x="740119" y="280102"/>
                  </a:cubicBezTo>
                  <a:lnTo>
                    <a:pt x="51514" y="280102"/>
                  </a:lnTo>
                  <a:cubicBezTo>
                    <a:pt x="23064" y="280102"/>
                    <a:pt x="0" y="257039"/>
                    <a:pt x="0" y="228588"/>
                  </a:cubicBezTo>
                  <a:lnTo>
                    <a:pt x="0" y="51514"/>
                  </a:lnTo>
                  <a:cubicBezTo>
                    <a:pt x="0" y="23064"/>
                    <a:pt x="23064" y="0"/>
                    <a:pt x="51514" y="0"/>
                  </a:cubicBezTo>
                  <a:close/>
                </a:path>
              </a:pathLst>
            </a:custGeom>
            <a:solidFill>
              <a:srgbClr val="BDE1E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791633" cy="327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09285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Anomaly detected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868016" y="8726543"/>
            <a:ext cx="3715367" cy="1063514"/>
            <a:chOff x="0" y="0"/>
            <a:chExt cx="978533" cy="28010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78533" cy="280102"/>
            </a:xfrm>
            <a:custGeom>
              <a:avLst/>
              <a:gdLst/>
              <a:ahLst/>
              <a:cxnLst/>
              <a:rect l="l" t="t" r="r" b="b"/>
              <a:pathLst>
                <a:path w="978533" h="280102">
                  <a:moveTo>
                    <a:pt x="41675" y="0"/>
                  </a:moveTo>
                  <a:lnTo>
                    <a:pt x="936858" y="0"/>
                  </a:lnTo>
                  <a:cubicBezTo>
                    <a:pt x="947911" y="0"/>
                    <a:pt x="958511" y="4391"/>
                    <a:pt x="966326" y="12206"/>
                  </a:cubicBezTo>
                  <a:cubicBezTo>
                    <a:pt x="974142" y="20022"/>
                    <a:pt x="978533" y="30622"/>
                    <a:pt x="978533" y="41675"/>
                  </a:cubicBezTo>
                  <a:lnTo>
                    <a:pt x="978533" y="238427"/>
                  </a:lnTo>
                  <a:cubicBezTo>
                    <a:pt x="978533" y="261444"/>
                    <a:pt x="959874" y="280102"/>
                    <a:pt x="936858" y="280102"/>
                  </a:cubicBezTo>
                  <a:lnTo>
                    <a:pt x="41675" y="280102"/>
                  </a:lnTo>
                  <a:cubicBezTo>
                    <a:pt x="18659" y="280102"/>
                    <a:pt x="0" y="261444"/>
                    <a:pt x="0" y="238427"/>
                  </a:cubicBezTo>
                  <a:lnTo>
                    <a:pt x="0" y="41675"/>
                  </a:lnTo>
                  <a:cubicBezTo>
                    <a:pt x="0" y="18659"/>
                    <a:pt x="18659" y="0"/>
                    <a:pt x="41675" y="0"/>
                  </a:cubicBezTo>
                  <a:close/>
                </a:path>
              </a:pathLst>
            </a:custGeom>
            <a:solidFill>
              <a:srgbClr val="BDE1E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978533" cy="327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09285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Risk score 0.95 &gt; 0.70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97758" y="8726543"/>
            <a:ext cx="3005732" cy="1063514"/>
            <a:chOff x="0" y="0"/>
            <a:chExt cx="791633" cy="28010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91633" cy="280102"/>
            </a:xfrm>
            <a:custGeom>
              <a:avLst/>
              <a:gdLst/>
              <a:ahLst/>
              <a:cxnLst/>
              <a:rect l="l" t="t" r="r" b="b"/>
              <a:pathLst>
                <a:path w="791633" h="280102">
                  <a:moveTo>
                    <a:pt x="51514" y="0"/>
                  </a:moveTo>
                  <a:lnTo>
                    <a:pt x="740119" y="0"/>
                  </a:lnTo>
                  <a:cubicBezTo>
                    <a:pt x="768569" y="0"/>
                    <a:pt x="791633" y="23064"/>
                    <a:pt x="791633" y="51514"/>
                  </a:cubicBezTo>
                  <a:lnTo>
                    <a:pt x="791633" y="228588"/>
                  </a:lnTo>
                  <a:cubicBezTo>
                    <a:pt x="791633" y="242250"/>
                    <a:pt x="786206" y="255353"/>
                    <a:pt x="776545" y="265014"/>
                  </a:cubicBezTo>
                  <a:cubicBezTo>
                    <a:pt x="766884" y="274675"/>
                    <a:pt x="753781" y="280102"/>
                    <a:pt x="740119" y="280102"/>
                  </a:cubicBezTo>
                  <a:lnTo>
                    <a:pt x="51514" y="280102"/>
                  </a:lnTo>
                  <a:cubicBezTo>
                    <a:pt x="23064" y="280102"/>
                    <a:pt x="0" y="257039"/>
                    <a:pt x="0" y="228588"/>
                  </a:cubicBezTo>
                  <a:lnTo>
                    <a:pt x="0" y="51514"/>
                  </a:lnTo>
                  <a:cubicBezTo>
                    <a:pt x="0" y="23064"/>
                    <a:pt x="23064" y="0"/>
                    <a:pt x="51514" y="0"/>
                  </a:cubicBezTo>
                  <a:close/>
                </a:path>
              </a:pathLst>
            </a:custGeom>
            <a:solidFill>
              <a:srgbClr val="BDE1EE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791633" cy="327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09285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Blocked in 2 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017865" y="8726543"/>
            <a:ext cx="4117485" cy="1063514"/>
            <a:chOff x="0" y="0"/>
            <a:chExt cx="1084441" cy="28010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84440" cy="280102"/>
            </a:xfrm>
            <a:custGeom>
              <a:avLst/>
              <a:gdLst/>
              <a:ahLst/>
              <a:cxnLst/>
              <a:rect l="l" t="t" r="r" b="b"/>
              <a:pathLst>
                <a:path w="1084440" h="280102">
                  <a:moveTo>
                    <a:pt x="37605" y="0"/>
                  </a:moveTo>
                  <a:lnTo>
                    <a:pt x="1046835" y="0"/>
                  </a:lnTo>
                  <a:cubicBezTo>
                    <a:pt x="1056809" y="0"/>
                    <a:pt x="1066374" y="3962"/>
                    <a:pt x="1073426" y="11014"/>
                  </a:cubicBezTo>
                  <a:cubicBezTo>
                    <a:pt x="1080479" y="18067"/>
                    <a:pt x="1084440" y="27632"/>
                    <a:pt x="1084440" y="37605"/>
                  </a:cubicBezTo>
                  <a:lnTo>
                    <a:pt x="1084440" y="242497"/>
                  </a:lnTo>
                  <a:cubicBezTo>
                    <a:pt x="1084440" y="263266"/>
                    <a:pt x="1067604" y="280102"/>
                    <a:pt x="1046835" y="280102"/>
                  </a:cubicBezTo>
                  <a:lnTo>
                    <a:pt x="37605" y="280102"/>
                  </a:lnTo>
                  <a:cubicBezTo>
                    <a:pt x="16836" y="280102"/>
                    <a:pt x="0" y="263266"/>
                    <a:pt x="0" y="242497"/>
                  </a:cubicBezTo>
                  <a:lnTo>
                    <a:pt x="0" y="37605"/>
                  </a:lnTo>
                  <a:cubicBezTo>
                    <a:pt x="0" y="16836"/>
                    <a:pt x="16836" y="0"/>
                    <a:pt x="37605" y="0"/>
                  </a:cubicBezTo>
                  <a:close/>
                </a:path>
              </a:pathLst>
            </a:custGeom>
            <a:solidFill>
              <a:srgbClr val="BDE1EE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084441" cy="327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09285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Alert sent to Master Agent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4158382" y="9258300"/>
            <a:ext cx="824588" cy="0"/>
          </a:xfrm>
          <a:prstGeom prst="line">
            <a:avLst/>
          </a:prstGeom>
          <a:ln w="38100" cap="flat">
            <a:solidFill>
              <a:srgbClr val="BDE1EE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9" name="AutoShape 19"/>
          <p:cNvSpPr/>
          <p:nvPr/>
        </p:nvSpPr>
        <p:spPr>
          <a:xfrm>
            <a:off x="8637804" y="9258300"/>
            <a:ext cx="717431" cy="0"/>
          </a:xfrm>
          <a:prstGeom prst="line">
            <a:avLst/>
          </a:prstGeom>
          <a:ln w="38100" cap="flat">
            <a:solidFill>
              <a:srgbClr val="BDE1EE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0" name="AutoShape 20"/>
          <p:cNvSpPr/>
          <p:nvPr/>
        </p:nvSpPr>
        <p:spPr>
          <a:xfrm>
            <a:off x="12303490" y="9277350"/>
            <a:ext cx="714375" cy="0"/>
          </a:xfrm>
          <a:prstGeom prst="line">
            <a:avLst/>
          </a:prstGeom>
          <a:ln w="38100" cap="flat">
            <a:solidFill>
              <a:srgbClr val="BDE1EE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1" name="Group 21"/>
          <p:cNvGrpSpPr/>
          <p:nvPr/>
        </p:nvGrpSpPr>
        <p:grpSpPr>
          <a:xfrm>
            <a:off x="14357480" y="1485900"/>
            <a:ext cx="3698146" cy="6479043"/>
            <a:chOff x="0" y="0"/>
            <a:chExt cx="973997" cy="170641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68980" cy="1621371"/>
            </a:xfrm>
            <a:custGeom>
              <a:avLst/>
              <a:gdLst/>
              <a:ahLst/>
              <a:cxnLst/>
              <a:rect l="l" t="t" r="r" b="b"/>
              <a:pathLst>
                <a:path w="968980" h="1621371">
                  <a:moveTo>
                    <a:pt x="107319" y="0"/>
                  </a:moveTo>
                  <a:lnTo>
                    <a:pt x="861661" y="0"/>
                  </a:lnTo>
                  <a:cubicBezTo>
                    <a:pt x="890124" y="0"/>
                    <a:pt x="917421" y="11307"/>
                    <a:pt x="937547" y="31433"/>
                  </a:cubicBezTo>
                  <a:cubicBezTo>
                    <a:pt x="957673" y="51559"/>
                    <a:pt x="968980" y="78856"/>
                    <a:pt x="968980" y="107319"/>
                  </a:cubicBezTo>
                  <a:lnTo>
                    <a:pt x="968980" y="1514051"/>
                  </a:lnTo>
                  <a:cubicBezTo>
                    <a:pt x="968980" y="1542514"/>
                    <a:pt x="957673" y="1569811"/>
                    <a:pt x="937547" y="1589938"/>
                  </a:cubicBezTo>
                  <a:cubicBezTo>
                    <a:pt x="917421" y="1610064"/>
                    <a:pt x="890124" y="1621371"/>
                    <a:pt x="861661" y="1621371"/>
                  </a:cubicBezTo>
                  <a:lnTo>
                    <a:pt x="107319" y="1621371"/>
                  </a:lnTo>
                  <a:cubicBezTo>
                    <a:pt x="78856" y="1621371"/>
                    <a:pt x="51559" y="1610064"/>
                    <a:pt x="31433" y="1589938"/>
                  </a:cubicBezTo>
                  <a:cubicBezTo>
                    <a:pt x="11307" y="1569811"/>
                    <a:pt x="0" y="1542514"/>
                    <a:pt x="0" y="1514051"/>
                  </a:cubicBezTo>
                  <a:lnTo>
                    <a:pt x="0" y="107319"/>
                  </a:lnTo>
                  <a:cubicBezTo>
                    <a:pt x="0" y="78856"/>
                    <a:pt x="11307" y="51559"/>
                    <a:pt x="31433" y="31433"/>
                  </a:cubicBezTo>
                  <a:cubicBezTo>
                    <a:pt x="51559" y="11307"/>
                    <a:pt x="78856" y="0"/>
                    <a:pt x="107319" y="0"/>
                  </a:cubicBezTo>
                  <a:close/>
                </a:path>
              </a:pathLst>
            </a:custGeom>
            <a:solidFill>
              <a:srgbClr val="0C5B90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5017" y="46944"/>
              <a:ext cx="968980" cy="1659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REAL ATTACK SCENARIO</a:t>
              </a:r>
            </a:p>
            <a:p>
              <a:pPr algn="l">
                <a:lnSpc>
                  <a:spcPts val="2659"/>
                </a:lnSpc>
              </a:pPr>
              <a:r>
                <a:rPr lang="en-US" sz="1899" b="1" dirty="0" smtClean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  <a:r>
                <a:rPr lang="en-US" sz="1899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2:47 PM</a:t>
              </a:r>
              <a:r>
                <a:rPr lang="en-US" sz="1899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Agent starts conversation </a:t>
              </a:r>
            </a:p>
            <a:p>
              <a:pPr algn="l">
                <a:lnSpc>
                  <a:spcPts val="2659"/>
                </a:lnSpc>
              </a:pPr>
              <a:r>
                <a:rPr lang="en-US" sz="1899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2:48 PM</a:t>
              </a:r>
              <a:r>
                <a:rPr lang="en-US" sz="1899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Unusual billing DB access </a:t>
              </a:r>
            </a:p>
            <a:p>
              <a:pPr algn="l">
                <a:lnSpc>
                  <a:spcPts val="2659"/>
                </a:lnSpc>
              </a:pPr>
              <a:r>
                <a:rPr lang="en-US" sz="1899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2:48:12 PM</a:t>
              </a:r>
              <a:r>
                <a:rPr lang="en-US" sz="1899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UEBA detects anomaly </a:t>
              </a:r>
            </a:p>
            <a:p>
              <a:pPr algn="l">
                <a:lnSpc>
                  <a:spcPts val="2659"/>
                </a:lnSpc>
              </a:pPr>
              <a:r>
                <a:rPr lang="en-US" sz="1899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2:48:14 PM</a:t>
              </a:r>
              <a:r>
                <a:rPr lang="en-US" sz="1899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Risk 0.94 &gt; 0.70 </a:t>
              </a:r>
            </a:p>
            <a:p>
              <a:pPr algn="l">
                <a:lnSpc>
                  <a:spcPts val="2659"/>
                </a:lnSpc>
              </a:pPr>
              <a:r>
                <a:rPr lang="en-US" sz="1899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2:48:16 PM</a:t>
              </a:r>
              <a:r>
                <a:rPr lang="en-US" sz="1899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Agent quarantined </a:t>
              </a:r>
            </a:p>
            <a:p>
              <a:pPr algn="l">
                <a:lnSpc>
                  <a:spcPts val="2659"/>
                </a:lnSpc>
              </a:pPr>
              <a:r>
                <a:rPr lang="en-US" sz="1899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2:48:18 PM</a:t>
              </a:r>
              <a:r>
                <a:rPr lang="en-US" sz="1899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Alert to Master Agent </a:t>
              </a:r>
            </a:p>
            <a:p>
              <a:pPr algn="l">
                <a:lnSpc>
                  <a:spcPts val="2659"/>
                </a:lnSpc>
              </a:pPr>
              <a:r>
                <a:rPr lang="en-US" sz="1899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2:51 PM</a:t>
              </a:r>
              <a:r>
                <a:rPr lang="en-US" sz="1899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Forensic reveals phishing Result: 4,287 records protected ₹4.7 Cr breach prevented Zero service disruption</a:t>
              </a:r>
            </a:p>
            <a:p>
              <a:pPr algn="ctr">
                <a:lnSpc>
                  <a:spcPts val="2659"/>
                </a:lnSpc>
              </a:pPr>
              <a:endPara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28700" y="200659"/>
            <a:ext cx="16670429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59"/>
              </a:lnSpc>
              <a:spcBef>
                <a:spcPct val="0"/>
              </a:spcBef>
            </a:pPr>
            <a:r>
              <a:rPr lang="en-US" sz="4899" b="1" dirty="0">
                <a:solidFill>
                  <a:srgbClr val="BDE1E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UEBA Security + Edge Case Robustness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971550"/>
            <a:ext cx="1156299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BDE1E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End-to-End Demo: VIN456DEF Critical Battery Failure Prevention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88870" y="8023085"/>
            <a:ext cx="17110259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 dirty="0">
                <a:solidFill>
                  <a:srgbClr val="BDE1E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UEBA security workflow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479366"/>
              </p:ext>
            </p:extLst>
          </p:nvPr>
        </p:nvGraphicFramePr>
        <p:xfrm>
          <a:off x="9144001" y="5219701"/>
          <a:ext cx="8686799" cy="4724399"/>
        </p:xfrm>
        <a:graphic>
          <a:graphicData uri="http://schemas.openxmlformats.org/drawingml/2006/table">
            <a:tbl>
              <a:tblPr/>
              <a:tblGrid>
                <a:gridCol w="1319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6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05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0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1307">
                <a:tc gridSpan="4"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sz="1300" b="1" dirty="0">
                          <a:solidFill>
                            <a:srgbClr val="BDE1E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Implementation Roadmap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66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sz="1300" b="1">
                          <a:solidFill>
                            <a:srgbClr val="BDE1E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Implementation Roadmap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66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sz="1300" b="1">
                          <a:solidFill>
                            <a:srgbClr val="BDE1E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Implementation Roadmap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66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sz="1300" b="1">
                          <a:solidFill>
                            <a:srgbClr val="BDE1E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Implementation Roadmap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6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373">
                <a:tc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sz="1300" b="1">
                          <a:solidFill>
                            <a:srgbClr val="BDE1E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Quarter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6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sz="1300" b="1">
                          <a:solidFill>
                            <a:srgbClr val="BDE1E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Milestone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6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sz="1300" b="1">
                          <a:solidFill>
                            <a:srgbClr val="BDE1E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Success Criteria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6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sz="1300" b="1">
                          <a:solidFill>
                            <a:srgbClr val="BDE1E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Goal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6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1626">
                <a:tc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sz="1300">
                          <a:solidFill>
                            <a:srgbClr val="BDE1E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Q1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B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sz="1300">
                          <a:solidFill>
                            <a:srgbClr val="BDE1E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 k vehicle pilot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B90"/>
                    </a:solidFill>
                  </a:tcPr>
                </a:tc>
                <a:tc>
                  <a:txBody>
                    <a:bodyPr/>
                    <a:lstStyle/>
                    <a:p>
                      <a:pPr marL="280678" lvl="1" indent="-140339" algn="ctr">
                        <a:lnSpc>
                          <a:spcPts val="182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300">
                          <a:solidFill>
                            <a:srgbClr val="BDE1E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93% accuracy</a:t>
                      </a:r>
                      <a:endParaRPr lang="en-US" sz="1100"/>
                    </a:p>
                    <a:p>
                      <a:pPr marL="280678" lvl="1" indent="-140339" algn="ctr">
                        <a:lnSpc>
                          <a:spcPts val="1820"/>
                        </a:lnSpc>
                        <a:buFont typeface="Arial"/>
                        <a:buChar char="•"/>
                      </a:pPr>
                      <a:r>
                        <a:rPr lang="en-US" sz="1300">
                          <a:solidFill>
                            <a:srgbClr val="BDE1E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8+ NPS</a:t>
                      </a:r>
                    </a:p>
                    <a:p>
                      <a:pPr marL="280678" lvl="1" indent="-140339" algn="ctr">
                        <a:lnSpc>
                          <a:spcPts val="1820"/>
                        </a:lnSpc>
                        <a:buFont typeface="Arial"/>
                        <a:buChar char="•"/>
                      </a:pPr>
                      <a:r>
                        <a:rPr lang="en-US" sz="1300">
                          <a:solidFill>
                            <a:srgbClr val="BDE1E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₹14 Cr savings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B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sz="1300">
                          <a:solidFill>
                            <a:srgbClr val="BDE1E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ROI validation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B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1626">
                <a:tc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sz="1300">
                          <a:solidFill>
                            <a:srgbClr val="BDE1E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Q2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B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sz="1300">
                          <a:solidFill>
                            <a:srgbClr val="BDE1E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0.5 M vehicle rollout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B90"/>
                    </a:solidFill>
                  </a:tcPr>
                </a:tc>
                <a:tc>
                  <a:txBody>
                    <a:bodyPr/>
                    <a:lstStyle/>
                    <a:p>
                      <a:pPr marL="280678" lvl="1" indent="-140339" algn="ctr">
                        <a:lnSpc>
                          <a:spcPts val="182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300">
                          <a:solidFill>
                            <a:srgbClr val="BDE1E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50K daily bookings</a:t>
                      </a:r>
                      <a:endParaRPr lang="en-US" sz="1100"/>
                    </a:p>
                    <a:p>
                      <a:pPr marL="280678" lvl="1" indent="-140339" algn="ctr">
                        <a:lnSpc>
                          <a:spcPts val="1820"/>
                        </a:lnSpc>
                        <a:buFont typeface="Arial"/>
                        <a:buChar char="•"/>
                      </a:pPr>
                      <a:r>
                        <a:rPr lang="en-US" sz="1300">
                          <a:solidFill>
                            <a:srgbClr val="BDE1E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&lt;2% escalation rate</a:t>
                      </a:r>
                    </a:p>
                    <a:p>
                      <a:pPr marL="280678" lvl="1" indent="-140339" algn="ctr">
                        <a:lnSpc>
                          <a:spcPts val="1820"/>
                        </a:lnSpc>
                        <a:buFont typeface="Arial"/>
                        <a:buChar char="•"/>
                      </a:pPr>
                      <a:r>
                        <a:rPr lang="en-US" sz="1300">
                          <a:solidFill>
                            <a:srgbClr val="BDE1E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₹70 Cr savings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B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sz="1300">
                          <a:solidFill>
                            <a:srgbClr val="BDE1E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Market leadership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B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8467">
                <a:tc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sz="1300">
                          <a:solidFill>
                            <a:srgbClr val="BDE1E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Q3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B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sz="1300">
                          <a:solidFill>
                            <a:srgbClr val="BDE1E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Manufacturing integration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B90"/>
                    </a:solidFill>
                  </a:tcPr>
                </a:tc>
                <a:tc>
                  <a:txBody>
                    <a:bodyPr/>
                    <a:lstStyle/>
                    <a:p>
                      <a:pPr marL="280678" lvl="1" indent="-140339" algn="ctr">
                        <a:lnSpc>
                          <a:spcPts val="182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300">
                          <a:solidFill>
                            <a:srgbClr val="BDE1E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&lt;4hr RCA cycle</a:t>
                      </a:r>
                      <a:endParaRPr lang="en-US" sz="1100"/>
                    </a:p>
                    <a:p>
                      <a:pPr marL="280678" lvl="1" indent="-140339" algn="ctr">
                        <a:lnSpc>
                          <a:spcPts val="1820"/>
                        </a:lnSpc>
                        <a:buFont typeface="Arial"/>
                        <a:buChar char="•"/>
                      </a:pPr>
                      <a:r>
                        <a:rPr lang="en-US" sz="1300">
                          <a:solidFill>
                            <a:srgbClr val="BDE1E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70% defect reduction</a:t>
                      </a:r>
                    </a:p>
                    <a:p>
                      <a:pPr marL="280678" lvl="1" indent="-140339" algn="ctr">
                        <a:lnSpc>
                          <a:spcPts val="1820"/>
                        </a:lnSpc>
                        <a:buFont typeface="Arial"/>
                        <a:buChar char="•"/>
                      </a:pPr>
                      <a:r>
                        <a:rPr lang="en-US" sz="1300">
                          <a:solidFill>
                            <a:srgbClr val="BDE1E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₹2,100 Cr annual run rate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B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sz="1300" dirty="0">
                          <a:solidFill>
                            <a:srgbClr val="BDE1E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Quality transformation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B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/>
          <p:nvPr>
            <p:extLst>
              <p:ext uri="{D42A27DB-BD31-4B8C-83A1-F6EECF244321}">
                <p14:modId xmlns:p14="http://schemas.microsoft.com/office/powerpoint/2010/main" val="2089220488"/>
              </p:ext>
            </p:extLst>
          </p:nvPr>
        </p:nvGraphicFramePr>
        <p:xfrm>
          <a:off x="9448800" y="851399"/>
          <a:ext cx="7697851" cy="5392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Worksheet" r:id="rId3" imgW="9042400" imgH="6527800" progId="Excel.Sheet.12">
                  <p:embed/>
                </p:oleObj>
              </mc:Choice>
              <mc:Fallback>
                <p:oleObj name="Worksheet" r:id="rId3" imgW="9042400" imgH="6527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448800" y="851399"/>
                        <a:ext cx="7697851" cy="53920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"/>
          <p:cNvGrpSpPr/>
          <p:nvPr/>
        </p:nvGrpSpPr>
        <p:grpSpPr>
          <a:xfrm>
            <a:off x="299649" y="4068165"/>
            <a:ext cx="8219131" cy="2175292"/>
            <a:chOff x="0" y="0"/>
            <a:chExt cx="2164709" cy="5729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64709" cy="572916"/>
            </a:xfrm>
            <a:custGeom>
              <a:avLst/>
              <a:gdLst/>
              <a:ahLst/>
              <a:cxnLst/>
              <a:rect l="l" t="t" r="r" b="b"/>
              <a:pathLst>
                <a:path w="2164709" h="572916">
                  <a:moveTo>
                    <a:pt x="48039" y="0"/>
                  </a:moveTo>
                  <a:lnTo>
                    <a:pt x="2116670" y="0"/>
                  </a:lnTo>
                  <a:cubicBezTo>
                    <a:pt x="2129411" y="0"/>
                    <a:pt x="2141630" y="5061"/>
                    <a:pt x="2150639" y="14070"/>
                  </a:cubicBezTo>
                  <a:cubicBezTo>
                    <a:pt x="2159648" y="23079"/>
                    <a:pt x="2164709" y="35298"/>
                    <a:pt x="2164709" y="48039"/>
                  </a:cubicBezTo>
                  <a:lnTo>
                    <a:pt x="2164709" y="524878"/>
                  </a:lnTo>
                  <a:cubicBezTo>
                    <a:pt x="2164709" y="537618"/>
                    <a:pt x="2159648" y="549837"/>
                    <a:pt x="2150639" y="558846"/>
                  </a:cubicBezTo>
                  <a:cubicBezTo>
                    <a:pt x="2141630" y="567855"/>
                    <a:pt x="2129411" y="572916"/>
                    <a:pt x="2116670" y="572916"/>
                  </a:cubicBezTo>
                  <a:lnTo>
                    <a:pt x="48039" y="572916"/>
                  </a:lnTo>
                  <a:cubicBezTo>
                    <a:pt x="35298" y="572916"/>
                    <a:pt x="23079" y="567855"/>
                    <a:pt x="14070" y="558846"/>
                  </a:cubicBezTo>
                  <a:cubicBezTo>
                    <a:pt x="5061" y="549837"/>
                    <a:pt x="0" y="537618"/>
                    <a:pt x="0" y="524878"/>
                  </a:cubicBezTo>
                  <a:lnTo>
                    <a:pt x="0" y="48039"/>
                  </a:lnTo>
                  <a:cubicBezTo>
                    <a:pt x="0" y="35298"/>
                    <a:pt x="5061" y="23079"/>
                    <a:pt x="14070" y="14070"/>
                  </a:cubicBezTo>
                  <a:cubicBezTo>
                    <a:pt x="23079" y="5061"/>
                    <a:pt x="35298" y="0"/>
                    <a:pt x="48039" y="0"/>
                  </a:cubicBezTo>
                  <a:close/>
                </a:path>
              </a:pathLst>
            </a:custGeom>
            <a:solidFill>
              <a:srgbClr val="0C5B9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64709" cy="6110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174" y="408971"/>
            <a:ext cx="16002226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59"/>
              </a:lnSpc>
              <a:spcBef>
                <a:spcPct val="0"/>
              </a:spcBef>
            </a:pPr>
            <a:r>
              <a:rPr lang="en-US" sz="4899" b="1" dirty="0">
                <a:solidFill>
                  <a:srgbClr val="BDE1E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Business Impact + Competitive Edge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174" y="1604366"/>
            <a:ext cx="6457972" cy="246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BDE1E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FINANCIAL IMPACT: ₹2,100 Cr Annual Savings        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BDE1E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├─ Per Vehicle: ₹1,400 × 15M fleet                    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BDE1E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├─ Breakdown (60%): ₹1,260 Cr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BDE1E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├─ Optimization (25%): ₹525 Cr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BDE1E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└─ Manufacturing (15%): ₹315 Cr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BDE1E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5-Year NPV: ₹8,900 Cr | Payback: 14 months</a:t>
            </a:r>
          </a:p>
          <a:p>
            <a:pPr algn="l">
              <a:lnSpc>
                <a:spcPts val="2800"/>
              </a:lnSpc>
            </a:pPr>
            <a:endParaRPr lang="en-US" sz="2000" b="1">
              <a:solidFill>
                <a:srgbClr val="BDE1EE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21246" y="4141716"/>
            <a:ext cx="7975936" cy="202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BDE1E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STAGED ROLLOUT STRATEGY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BDE1E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1 (Q1)</a:t>
            </a:r>
            <a:r>
              <a:rPr lang="en-US" sz="1899">
                <a:solidFill>
                  <a:srgbClr val="BDE1EE"/>
                </a:solidFill>
                <a:latin typeface="Canva Sans"/>
                <a:ea typeface="Canva Sans"/>
                <a:cs typeface="Canva Sans"/>
                <a:sym typeface="Canva Sans"/>
              </a:rPr>
              <a:t>: Metro cities (Delhi, Mumbai, Bangalore) - 10K vehicles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BDE1E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2 (Q2)</a:t>
            </a:r>
            <a:r>
              <a:rPr lang="en-US" sz="1899">
                <a:solidFill>
                  <a:srgbClr val="BDE1EE"/>
                </a:solidFill>
                <a:latin typeface="Canva Sans"/>
                <a:ea typeface="Canva Sans"/>
                <a:cs typeface="Canva Sans"/>
                <a:sym typeface="Canva Sans"/>
              </a:rPr>
              <a:t>: Tier-1 cities + fleet owners - 500K vehicles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BDE1E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3 (Q3)</a:t>
            </a:r>
            <a:r>
              <a:rPr lang="en-US" sz="1899">
                <a:solidFill>
                  <a:srgbClr val="BDE1EE"/>
                </a:solidFill>
                <a:latin typeface="Canva Sans"/>
                <a:ea typeface="Canva Sans"/>
                <a:cs typeface="Canva Sans"/>
                <a:sym typeface="Canva Sans"/>
              </a:rPr>
              <a:t>: National expansion + manufacturing integration - 15M vehicles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BDE1E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257987" y="8691435"/>
            <a:ext cx="8302456" cy="1133730"/>
            <a:chOff x="0" y="0"/>
            <a:chExt cx="2186655" cy="2985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86655" cy="298596"/>
            </a:xfrm>
            <a:custGeom>
              <a:avLst/>
              <a:gdLst/>
              <a:ahLst/>
              <a:cxnLst/>
              <a:rect l="l" t="t" r="r" b="b"/>
              <a:pathLst>
                <a:path w="2186655" h="298596">
                  <a:moveTo>
                    <a:pt x="18650" y="0"/>
                  </a:moveTo>
                  <a:lnTo>
                    <a:pt x="2168005" y="0"/>
                  </a:lnTo>
                  <a:cubicBezTo>
                    <a:pt x="2178305" y="0"/>
                    <a:pt x="2186655" y="8350"/>
                    <a:pt x="2186655" y="18650"/>
                  </a:cubicBezTo>
                  <a:lnTo>
                    <a:pt x="2186655" y="279946"/>
                  </a:lnTo>
                  <a:cubicBezTo>
                    <a:pt x="2186655" y="290246"/>
                    <a:pt x="2178305" y="298596"/>
                    <a:pt x="2168005" y="298596"/>
                  </a:cubicBezTo>
                  <a:lnTo>
                    <a:pt x="18650" y="298596"/>
                  </a:lnTo>
                  <a:cubicBezTo>
                    <a:pt x="8350" y="298596"/>
                    <a:pt x="0" y="290246"/>
                    <a:pt x="0" y="279946"/>
                  </a:cubicBezTo>
                  <a:lnTo>
                    <a:pt x="0" y="18650"/>
                  </a:lnTo>
                  <a:cubicBezTo>
                    <a:pt x="0" y="8350"/>
                    <a:pt x="8350" y="0"/>
                    <a:pt x="18650" y="0"/>
                  </a:cubicBezTo>
                  <a:close/>
                </a:path>
              </a:pathLst>
            </a:custGeom>
            <a:solidFill>
              <a:srgbClr val="0C5B9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186655" cy="3271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80817" y="8774511"/>
            <a:ext cx="8056795" cy="871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 b="1">
                <a:solidFill>
                  <a:srgbClr val="BDE1E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VISION: M</a:t>
            </a:r>
            <a:r>
              <a:rPr lang="en-US" sz="1700" b="1" i="1">
                <a:solidFill>
                  <a:srgbClr val="BDE1EE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AKING VEHICLE BREAKDOWNS A RELIC OF THE PAST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 b="1" i="1">
                <a:solidFill>
                  <a:srgbClr val="BDE1EE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From ₹300 Cr crisis to ₹2,100 Cr opportunity—we're not just fixing cars,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 b="1" i="1">
                <a:solidFill>
                  <a:srgbClr val="BDE1EE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we're reimagining automotive care for 15M families across India.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512612" y="6662557"/>
            <a:ext cx="5261096" cy="1675342"/>
            <a:chOff x="0" y="0"/>
            <a:chExt cx="1385638" cy="44124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85638" cy="441242"/>
            </a:xfrm>
            <a:custGeom>
              <a:avLst/>
              <a:gdLst/>
              <a:ahLst/>
              <a:cxnLst/>
              <a:rect l="l" t="t" r="r" b="b"/>
              <a:pathLst>
                <a:path w="1385638" h="441242">
                  <a:moveTo>
                    <a:pt x="29431" y="0"/>
                  </a:moveTo>
                  <a:lnTo>
                    <a:pt x="1356208" y="0"/>
                  </a:lnTo>
                  <a:cubicBezTo>
                    <a:pt x="1364013" y="0"/>
                    <a:pt x="1371499" y="3101"/>
                    <a:pt x="1377018" y="8620"/>
                  </a:cubicBezTo>
                  <a:cubicBezTo>
                    <a:pt x="1382538" y="14139"/>
                    <a:pt x="1385638" y="21625"/>
                    <a:pt x="1385638" y="29431"/>
                  </a:cubicBezTo>
                  <a:lnTo>
                    <a:pt x="1385638" y="411812"/>
                  </a:lnTo>
                  <a:cubicBezTo>
                    <a:pt x="1385638" y="419617"/>
                    <a:pt x="1382538" y="427103"/>
                    <a:pt x="1377018" y="432622"/>
                  </a:cubicBezTo>
                  <a:cubicBezTo>
                    <a:pt x="1371499" y="438142"/>
                    <a:pt x="1364013" y="441242"/>
                    <a:pt x="1356208" y="441242"/>
                  </a:cubicBezTo>
                  <a:lnTo>
                    <a:pt x="29431" y="441242"/>
                  </a:lnTo>
                  <a:cubicBezTo>
                    <a:pt x="21625" y="441242"/>
                    <a:pt x="14139" y="438142"/>
                    <a:pt x="8620" y="432622"/>
                  </a:cubicBezTo>
                  <a:cubicBezTo>
                    <a:pt x="3101" y="427103"/>
                    <a:pt x="0" y="419617"/>
                    <a:pt x="0" y="411812"/>
                  </a:cubicBezTo>
                  <a:lnTo>
                    <a:pt x="0" y="29431"/>
                  </a:lnTo>
                  <a:cubicBezTo>
                    <a:pt x="0" y="21625"/>
                    <a:pt x="3101" y="14139"/>
                    <a:pt x="8620" y="8620"/>
                  </a:cubicBezTo>
                  <a:cubicBezTo>
                    <a:pt x="14139" y="3101"/>
                    <a:pt x="21625" y="0"/>
                    <a:pt x="29431" y="0"/>
                  </a:cubicBezTo>
                  <a:close/>
                </a:path>
              </a:pathLst>
            </a:custGeom>
            <a:solidFill>
              <a:srgbClr val="0C5B9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1385638" cy="4698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590447" y="6745633"/>
            <a:ext cx="5105426" cy="1461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1" dirty="0">
                <a:solidFill>
                  <a:srgbClr val="BDE1E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MANUFACTURING FEEDBACK PREVIEW </a:t>
            </a:r>
          </a:p>
          <a:p>
            <a:pPr marL="367031" lvl="1" indent="-183515" algn="l">
              <a:lnSpc>
                <a:spcPts val="2380"/>
              </a:lnSpc>
              <a:buFont typeface="Arial"/>
              <a:buChar char="•"/>
            </a:pPr>
            <a:r>
              <a:rPr lang="en-US" sz="1700" dirty="0">
                <a:solidFill>
                  <a:srgbClr val="BDE1EE"/>
                </a:solidFill>
                <a:latin typeface="Canva Sans"/>
                <a:ea typeface="Canva Sans"/>
                <a:cs typeface="Canva Sans"/>
                <a:sym typeface="Canva Sans"/>
              </a:rPr>
              <a:t>Defects Detected: 487 battery failures </a:t>
            </a:r>
          </a:p>
          <a:p>
            <a:pPr marL="367031" lvl="1" indent="-183515" algn="l">
              <a:lnSpc>
                <a:spcPts val="2380"/>
              </a:lnSpc>
              <a:buFont typeface="Arial"/>
              <a:buChar char="•"/>
            </a:pPr>
            <a:r>
              <a:rPr lang="en-US" sz="1700" dirty="0">
                <a:solidFill>
                  <a:srgbClr val="BDE1EE"/>
                </a:solidFill>
                <a:latin typeface="Canva Sans"/>
                <a:ea typeface="Canva Sans"/>
                <a:cs typeface="Canva Sans"/>
                <a:sym typeface="Canva Sans"/>
              </a:rPr>
              <a:t>RCA Time: 4 hours (vs 6-month </a:t>
            </a:r>
            <a:r>
              <a:rPr lang="en-US" sz="1700" dirty="0" err="1">
                <a:solidFill>
                  <a:srgbClr val="BDE1EE"/>
                </a:solidFill>
                <a:latin typeface="Canva Sans"/>
                <a:ea typeface="Canva Sans"/>
                <a:cs typeface="Canva Sans"/>
                <a:sym typeface="Canva Sans"/>
              </a:rPr>
              <a:t>avg</a:t>
            </a:r>
            <a:r>
              <a:rPr lang="en-US" sz="1700" dirty="0">
                <a:solidFill>
                  <a:srgbClr val="BDE1EE"/>
                </a:solidFill>
                <a:latin typeface="Canva Sans"/>
                <a:ea typeface="Canva Sans"/>
                <a:cs typeface="Canva Sans"/>
                <a:sym typeface="Canva Sans"/>
              </a:rPr>
              <a:t>) </a:t>
            </a:r>
          </a:p>
          <a:p>
            <a:pPr marL="367031" lvl="1" indent="-183515" algn="l">
              <a:lnSpc>
                <a:spcPts val="2380"/>
              </a:lnSpc>
              <a:buFont typeface="Arial"/>
              <a:buChar char="•"/>
            </a:pPr>
            <a:r>
              <a:rPr lang="en-US" sz="1700" dirty="0">
                <a:solidFill>
                  <a:srgbClr val="BDE1EE"/>
                </a:solidFill>
                <a:latin typeface="Canva Sans"/>
                <a:ea typeface="Canva Sans"/>
                <a:cs typeface="Canva Sans"/>
                <a:sym typeface="Canva Sans"/>
              </a:rPr>
              <a:t>CAPA Executed: Vendor switch + QA update </a:t>
            </a:r>
          </a:p>
          <a:p>
            <a:pPr marL="367031" lvl="1" indent="-183515" algn="l">
              <a:lnSpc>
                <a:spcPts val="2380"/>
              </a:lnSpc>
              <a:buFont typeface="Arial"/>
              <a:buChar char="•"/>
            </a:pPr>
            <a:r>
              <a:rPr lang="en-US" sz="1700" dirty="0">
                <a:solidFill>
                  <a:srgbClr val="BDE1EE"/>
                </a:solidFill>
                <a:latin typeface="Canva Sans"/>
                <a:ea typeface="Canva Sans"/>
                <a:cs typeface="Canva Sans"/>
                <a:sym typeface="Canva Sans"/>
              </a:rPr>
              <a:t>Impact: 87% defect reduction 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924</Words>
  <Application>Microsoft Office PowerPoint</Application>
  <PresentationFormat>Custom</PresentationFormat>
  <Paragraphs>150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Canva Sans Bold</vt:lpstr>
      <vt:lpstr>Arial</vt:lpstr>
      <vt:lpstr>Canva Sans</vt:lpstr>
      <vt:lpstr>Calibri</vt:lpstr>
      <vt:lpstr>Playfair Display Bold</vt:lpstr>
      <vt:lpstr>Canva Sans Bold Italics</vt:lpstr>
      <vt:lpstr>Canva Sans Italics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EY Techathon 6.0 v3</dc:title>
  <cp:lastModifiedBy>M Harshith Raju</cp:lastModifiedBy>
  <cp:revision>3</cp:revision>
  <dcterms:created xsi:type="dcterms:W3CDTF">2006-08-16T00:00:00Z</dcterms:created>
  <dcterms:modified xsi:type="dcterms:W3CDTF">2025-10-15T12:18:17Z</dcterms:modified>
  <dc:identifier>DAG1wd9qGtA</dc:identifier>
</cp:coreProperties>
</file>